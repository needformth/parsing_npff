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4"/>
  </p:notesMasterIdLst>
  <p:handoutMasterIdLst>
    <p:handoutMasterId r:id="rId5"/>
  </p:handoutMasterIdLst>
  <p:sldIdLst>
    <p:sldId id="349" r:id="rId2"/>
    <p:sldId id="348" r:id="rId3"/>
  </p:sldIdLst>
  <p:sldSz cx="9906000" cy="6858000" type="A4"/>
  <p:notesSz cx="6797675" cy="9874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211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AFA"/>
    <a:srgbClr val="1E14A4"/>
    <a:srgbClr val="00B050"/>
    <a:srgbClr val="E2F0D9"/>
    <a:srgbClr val="FF6600"/>
    <a:srgbClr val="E5E5E5"/>
    <a:srgbClr val="F7F7F7"/>
    <a:srgbClr val="1A24A2"/>
    <a:srgbClr val="141EA0"/>
    <a:srgbClr val="1620A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03" autoAdjust="0"/>
    <p:restoredTop sz="96279" autoAdjust="0"/>
  </p:normalViewPr>
  <p:slideViewPr>
    <p:cSldViewPr snapToGrid="0">
      <p:cViewPr varScale="1">
        <p:scale>
          <a:sx n="93" d="100"/>
          <a:sy n="93" d="100"/>
        </p:scale>
        <p:origin x="1354" y="86"/>
      </p:cViewPr>
      <p:guideLst>
        <p:guide pos="3211"/>
        <p:guide orient="horz" pos="2160"/>
      </p:guideLst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402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l">
              <a:defRPr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pPr>
            <a:r>
              <a:rPr lang="ru-RU" sz="1400" b="1" i="0" baseline="0" dirty="0">
                <a:solidFill>
                  <a:srgbClr val="3C3C3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Распределение</a:t>
            </a:r>
            <a:br>
              <a:rPr lang="ru-RU" sz="1400" b="1" i="0" baseline="0" dirty="0">
                <a:solidFill>
                  <a:srgbClr val="3C3C3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400" b="1" i="0" baseline="0" dirty="0">
                <a:solidFill>
                  <a:srgbClr val="3C3C3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инструментов</a:t>
            </a:r>
            <a:endParaRPr lang="ru-RU" sz="1400" dirty="0">
              <a:solidFill>
                <a:srgbClr val="3C3C3C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>
              <a:defRPr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pPr>
            <a:r>
              <a:rPr lang="ru-RU" sz="400" b="1" i="0" baseline="0" dirty="0">
                <a:solidFill>
                  <a:srgbClr val="3C3C3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ru-RU" sz="400" dirty="0">
              <a:solidFill>
                <a:srgbClr val="3C3C3C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>
              <a:defRPr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pPr>
            <a:r>
              <a:rPr lang="ru-RU" sz="1000" b="0" i="0" baseline="0" dirty="0">
                <a:solidFill>
                  <a:srgbClr val="3C3C3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для инвестиций</a:t>
            </a:r>
            <a:br>
              <a:rPr lang="ru-RU" sz="1000" b="0" i="0" baseline="0" dirty="0">
                <a:solidFill>
                  <a:srgbClr val="3C3C3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000" b="0" i="0" baseline="0" dirty="0">
                <a:solidFill>
                  <a:srgbClr val="3C3C3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среди 7 крупнейших</a:t>
            </a:r>
            <a:br>
              <a:rPr lang="ru-RU" sz="1000" b="0" i="0" baseline="0" dirty="0">
                <a:solidFill>
                  <a:srgbClr val="3C3C3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000" b="0" i="0" baseline="0" dirty="0">
                <a:solidFill>
                  <a:srgbClr val="3C3C3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пенсионных систем</a:t>
            </a:r>
            <a:endParaRPr lang="ru-RU" sz="1000" dirty="0">
              <a:solidFill>
                <a:srgbClr val="3C3C3C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c:rich>
      </c:tx>
      <c:layout>
        <c:manualLayout>
          <c:xMode val="edge"/>
          <c:yMode val="edge"/>
          <c:x val="5.1371182749888035E-2"/>
          <c:y val="0.19479972491170899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46536518397888343"/>
          <c:y val="0.30652354029075374"/>
          <c:w val="0.41710234187896589"/>
          <c:h val="0.609775189500377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scene3d>
              <a:camera prst="orthographicFront"/>
              <a:lightRig rig="threePt" dir="t"/>
            </a:scene3d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1-822D-41D8-9F91-DF37848582C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alpha val="8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3-822D-41D8-9F91-DF37848582C1}"/>
              </c:ext>
            </c:extLst>
          </c:dPt>
          <c:dPt>
            <c:idx val="2"/>
            <c:invertIfNegative val="0"/>
            <c:bubble3D val="0"/>
            <c:spPr>
              <a:solidFill>
                <a:srgbClr val="EA8848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5-822D-41D8-9F91-DF37848582C1}"/>
              </c:ext>
            </c:extLst>
          </c:dPt>
          <c:dPt>
            <c:idx val="3"/>
            <c:invertIfNegative val="0"/>
            <c:bubble3D val="0"/>
            <c:spPr>
              <a:solidFill>
                <a:srgbClr val="B8DCD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7-822D-41D8-9F91-DF37848582C1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>
                      <a:solidFill>
                        <a:srgbClr val="3C3C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22D-41D8-9F91-DF37848582C1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>
                      <a:solidFill>
                        <a:srgbClr val="3C3C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22D-41D8-9F91-DF37848582C1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>
                      <a:solidFill>
                        <a:srgbClr val="3C3C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822D-41D8-9F91-DF37848582C1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>
                      <a:solidFill>
                        <a:srgbClr val="3C3C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822D-41D8-9F91-DF37848582C1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Акции</c:v>
                </c:pt>
                <c:pt idx="1">
                  <c:v>Облигации</c:v>
                </c:pt>
                <c:pt idx="2">
                  <c:v>Депозиты</c:v>
                </c:pt>
                <c:pt idx="3">
                  <c:v>ETF и иные фонды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43</c:v>
                </c:pt>
                <c:pt idx="1">
                  <c:v>29</c:v>
                </c:pt>
                <c:pt idx="2">
                  <c:v>2</c:v>
                </c:pt>
                <c:pt idx="3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22D-41D8-9F91-DF37848582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"/>
        <c:axId val="1230923360"/>
        <c:axId val="1230909216"/>
      </c:barChart>
      <c:catAx>
        <c:axId val="12309233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30909216"/>
        <c:crosses val="autoZero"/>
        <c:auto val="1"/>
        <c:lblAlgn val="ctr"/>
        <c:lblOffset val="100"/>
        <c:noMultiLvlLbl val="0"/>
      </c:catAx>
      <c:valAx>
        <c:axId val="123090921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230923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5.9338822479336105E-2"/>
          <c:y val="0.66069921207572224"/>
          <c:w val="0.27715742998514942"/>
          <c:h val="0.27223858754483699"/>
        </c:manualLayout>
      </c:layout>
      <c:overlay val="0"/>
      <c:txPr>
        <a:bodyPr/>
        <a:lstStyle/>
        <a:p>
          <a:pPr>
            <a:defRPr sz="1000">
              <a:solidFill>
                <a:srgbClr val="3C3C3C"/>
              </a:solidFill>
              <a:latin typeface="Verdana" panose="020B0604030504040204" pitchFamily="34" charset="0"/>
              <a:ea typeface="Verdana" panose="020B0604030504040204" pitchFamily="34" charset="0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lnSpc>
                <a:spcPct val="100000"/>
              </a:lnSpc>
              <a:defRPr sz="1000" b="1" i="0" u="none" strike="noStrike" kern="1200" cap="all" spc="50" baseline="0">
                <a:solidFill>
                  <a:srgbClr val="3C3C3C"/>
                </a:solidFill>
                <a:latin typeface="+mn-lt"/>
                <a:ea typeface="+mn-ea"/>
                <a:cs typeface="+mn-cs"/>
              </a:defRPr>
            </a:pPr>
            <a:r>
              <a:rPr lang="ru-RU" sz="1400" b="1" cap="none" spc="0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Распределение</a:t>
            </a:r>
            <a:br>
              <a:rPr lang="ru-RU" sz="1400" b="1" cap="none" spc="0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400" b="1" cap="none" spc="0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инструментов</a:t>
            </a:r>
          </a:p>
          <a:p>
            <a:pPr algn="l">
              <a:lnSpc>
                <a:spcPct val="100000"/>
              </a:lnSpc>
              <a:defRPr sz="1000" b="1" i="0" u="none" strike="noStrike" kern="1200" cap="all" spc="50" baseline="0">
                <a:solidFill>
                  <a:srgbClr val="3C3C3C"/>
                </a:solidFill>
                <a:latin typeface="+mn-lt"/>
                <a:ea typeface="+mn-ea"/>
                <a:cs typeface="+mn-cs"/>
              </a:defRPr>
            </a:pPr>
            <a:r>
              <a:rPr lang="ru-RU" sz="400" b="1" cap="none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algn="l">
              <a:lnSpc>
                <a:spcPct val="100000"/>
              </a:lnSpc>
              <a:defRPr sz="1000" b="1" i="0" u="none" strike="noStrike" kern="1200" cap="all" spc="50" baseline="0">
                <a:solidFill>
                  <a:srgbClr val="3C3C3C"/>
                </a:solidFill>
                <a:latin typeface="+mn-lt"/>
                <a:ea typeface="+mn-ea"/>
                <a:cs typeface="+mn-cs"/>
              </a:defRPr>
            </a:pPr>
            <a:r>
              <a:rPr lang="ru-RU" sz="1000" b="0" cap="none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 инвестиций</a:t>
            </a:r>
            <a:br>
              <a:rPr lang="ru-RU" sz="1000" b="0" cap="none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000" b="0" cap="none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среди 7</a:t>
            </a:r>
            <a:r>
              <a:rPr lang="ru-RU" sz="1000" b="0" cap="none" baseline="0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000" b="0" cap="none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крупнейших</a:t>
            </a:r>
            <a:br>
              <a:rPr lang="ru-RU" sz="1000" b="0" cap="none" baseline="0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000" b="0" cap="none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пенсионных</a:t>
            </a:r>
            <a:r>
              <a:rPr lang="ru-RU" sz="1000" b="0" cap="none" baseline="0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000" b="0" cap="none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систем</a:t>
            </a:r>
          </a:p>
        </c:rich>
      </c:tx>
      <c:layout>
        <c:manualLayout>
          <c:xMode val="edge"/>
          <c:yMode val="edge"/>
          <c:x val="3.4661623477547387E-3"/>
          <c:y val="6.889278641550858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47254936860470076"/>
          <c:y val="0.30652344187745617"/>
          <c:w val="0.41710234187896589"/>
          <c:h val="0.60977518950037779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scene3d>
              <a:camera prst="orthographicFront"/>
              <a:lightRig rig="threePt" dir="t"/>
            </a:scene3d>
          </c:spPr>
          <c:explosion val="1"/>
          <c:dPt>
            <c:idx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1-3399-42CE-9875-4A6EB0B7A683}"/>
              </c:ext>
            </c:extLst>
          </c:dPt>
          <c:dPt>
            <c:idx val="1"/>
            <c:bubble3D val="0"/>
            <c:spPr>
              <a:solidFill>
                <a:schemeClr val="accent2">
                  <a:alpha val="8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3-3399-42CE-9875-4A6EB0B7A683}"/>
              </c:ext>
            </c:extLst>
          </c:dPt>
          <c:dPt>
            <c:idx val="2"/>
            <c:bubble3D val="0"/>
            <c:spPr>
              <a:solidFill>
                <a:srgbClr val="EA8848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5-3399-42CE-9875-4A6EB0B7A683}"/>
              </c:ext>
            </c:extLst>
          </c:dPt>
          <c:dPt>
            <c:idx val="3"/>
            <c:bubble3D val="0"/>
            <c:spPr>
              <a:solidFill>
                <a:srgbClr val="B8DCD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7-3399-42CE-9875-4A6EB0B7A683}"/>
              </c:ext>
            </c:extLst>
          </c:dPt>
          <c:dLbls>
            <c:dLbl>
              <c:idx val="0"/>
              <c:layout>
                <c:manualLayout>
                  <c:x val="0.13420811529416221"/>
                  <c:y val="1.494171700917415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rgbClr val="3C3C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99-42CE-9875-4A6EB0B7A683}"/>
                </c:ext>
              </c:extLst>
            </c:dLbl>
            <c:dLbl>
              <c:idx val="1"/>
              <c:layout>
                <c:manualLayout>
                  <c:x val="-5.8241257580485581E-2"/>
                  <c:y val="0.1045920190642190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rgbClr val="3C3C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99-42CE-9875-4A6EB0B7A683}"/>
                </c:ext>
              </c:extLst>
            </c:dLbl>
            <c:dLbl>
              <c:idx val="2"/>
              <c:layout>
                <c:manualLayout>
                  <c:x val="-0.11196317821289137"/>
                  <c:y val="-2.455824137167315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rgbClr val="3C3C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399-42CE-9875-4A6EB0B7A683}"/>
                </c:ext>
              </c:extLst>
            </c:dLbl>
            <c:dLbl>
              <c:idx val="3"/>
              <c:layout>
                <c:manualLayout>
                  <c:x val="-5.3176800399573752E-2"/>
                  <c:y val="-0.1157983068210997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rgbClr val="3C3C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399-42CE-9875-4A6EB0B7A68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4"/>
                <c:pt idx="0">
                  <c:v>Акции</c:v>
                </c:pt>
                <c:pt idx="1">
                  <c:v>Облигации</c:v>
                </c:pt>
                <c:pt idx="2">
                  <c:v>Депозиты</c:v>
                </c:pt>
                <c:pt idx="3">
                  <c:v>ETF и иные фонды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43</c:v>
                </c:pt>
                <c:pt idx="1">
                  <c:v>29</c:v>
                </c:pt>
                <c:pt idx="2">
                  <c:v>2</c:v>
                </c:pt>
                <c:pt idx="3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399-42CE-9875-4A6EB0B7A68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7.3473781062082426E-3"/>
          <c:y val="0.64485303438918529"/>
          <c:w val="0.27541538394691073"/>
          <c:h val="0.269450924254024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C3C3C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5783B7-E768-44CA-BAF9-73D6C2392452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4B934-8CAE-4D40-965F-10D925A547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8450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191A4F-028D-4140-9709-6200D8E954C7}" type="datetimeFigureOut">
              <a:rPr lang="ru-RU" smtClean="0"/>
              <a:t>22.04.2026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1233488"/>
            <a:ext cx="481330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CBAF2-CB66-459B-93BC-3178C48EE60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2688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eg"/><Relationship Id="rId3" Type="http://schemas.openxmlformats.org/officeDocument/2006/relationships/image" Target="../media/image29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image" Target="../media/image17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3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544626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78446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049496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663774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176650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855234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795735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909856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851632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832037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261727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Номер слайда 16"/>
          <p:cNvSpPr>
            <a:spLocks noGrp="1"/>
          </p:cNvSpPr>
          <p:nvPr>
            <p:ph type="sldNum" sz="quarter" idx="10"/>
          </p:nvPr>
        </p:nvSpPr>
        <p:spPr>
          <a:xfrm>
            <a:off x="7537133" y="6470652"/>
            <a:ext cx="2228850" cy="365125"/>
          </a:xfrm>
        </p:spPr>
        <p:txBody>
          <a:bodyPr/>
          <a:lstStyle>
            <a:lvl1pPr>
              <a:defRPr sz="1050"/>
            </a:lvl1pPr>
          </a:lstStyle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9200" y="549276"/>
            <a:ext cx="4539063" cy="417879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rgbClr val="587DC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buNone/>
            </a:pPr>
            <a:r>
              <a:rPr lang="ru-RU" dirty="0"/>
              <a:t>Образец</a:t>
            </a:r>
            <a:r>
              <a:rPr lang="en-US" dirty="0"/>
              <a:t> </a:t>
            </a:r>
            <a:r>
              <a:rPr lang="ru-RU" dirty="0"/>
              <a:t>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49105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64">
          <p15:clr>
            <a:srgbClr val="FBAE40"/>
          </p15:clr>
        </p15:guide>
        <p15:guide id="4" orient="horz" pos="346">
          <p15:clr>
            <a:srgbClr val="FBAE40"/>
          </p15:clr>
        </p15:guide>
        <p15:guide id="5" pos="597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2" name="Прямоугольный треугольник 11"/>
          <p:cNvSpPr/>
          <p:nvPr userDrawn="1"/>
        </p:nvSpPr>
        <p:spPr>
          <a:xfrm rot="18900000">
            <a:off x="4881429" y="-1577440"/>
            <a:ext cx="2563341" cy="3154881"/>
          </a:xfrm>
          <a:prstGeom prst="rtTriangle">
            <a:avLst/>
          </a:prstGeom>
          <a:solidFill>
            <a:srgbClr val="7DA4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3" name="Прямоугольный треугольник 12"/>
          <p:cNvSpPr/>
          <p:nvPr userDrawn="1"/>
        </p:nvSpPr>
        <p:spPr>
          <a:xfrm rot="2700000">
            <a:off x="8308974" y="3317932"/>
            <a:ext cx="3208340" cy="2606776"/>
          </a:xfrm>
          <a:prstGeom prst="rtTriangle">
            <a:avLst/>
          </a:prstGeom>
          <a:solidFill>
            <a:srgbClr val="B8DCD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26037" y="2911071"/>
            <a:ext cx="5125240" cy="137493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заголовка</a:t>
            </a:r>
          </a:p>
        </p:txBody>
      </p:sp>
      <p:sp>
        <p:nvSpPr>
          <p:cNvPr id="3" name="Полилиния 2"/>
          <p:cNvSpPr/>
          <p:nvPr userDrawn="1"/>
        </p:nvSpPr>
        <p:spPr>
          <a:xfrm>
            <a:off x="4333875" y="-10886"/>
            <a:ext cx="5598659" cy="6868886"/>
          </a:xfrm>
          <a:custGeom>
            <a:avLst/>
            <a:gdLst>
              <a:gd name="connsiteX0" fmla="*/ 10886 w 6890657"/>
              <a:gd name="connsiteY0" fmla="*/ 0 h 6868886"/>
              <a:gd name="connsiteX1" fmla="*/ 6890657 w 6890657"/>
              <a:gd name="connsiteY1" fmla="*/ 6868886 h 6868886"/>
              <a:gd name="connsiteX2" fmla="*/ 0 w 6890657"/>
              <a:gd name="connsiteY2" fmla="*/ 6063343 h 6868886"/>
              <a:gd name="connsiteX3" fmla="*/ 10886 w 6890657"/>
              <a:gd name="connsiteY3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90657" h="6868886">
                <a:moveTo>
                  <a:pt x="10886" y="0"/>
                </a:moveTo>
                <a:lnTo>
                  <a:pt x="6890657" y="6868886"/>
                </a:lnTo>
                <a:lnTo>
                  <a:pt x="0" y="6063343"/>
                </a:lnTo>
                <a:cubicBezTo>
                  <a:pt x="3629" y="4042229"/>
                  <a:pt x="7257" y="2021114"/>
                  <a:pt x="1088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7" name="Прямоугольный треугольник 16"/>
          <p:cNvSpPr/>
          <p:nvPr userDrawn="1"/>
        </p:nvSpPr>
        <p:spPr>
          <a:xfrm rot="8100000">
            <a:off x="6794537" y="5260773"/>
            <a:ext cx="2598358" cy="3197979"/>
          </a:xfrm>
          <a:prstGeom prst="rtTriangle">
            <a:avLst/>
          </a:prstGeom>
          <a:solidFill>
            <a:srgbClr val="7DA4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4" name="Полилиния 3"/>
          <p:cNvSpPr/>
          <p:nvPr userDrawn="1"/>
        </p:nvSpPr>
        <p:spPr>
          <a:xfrm>
            <a:off x="6152148" y="-8021"/>
            <a:ext cx="3747335" cy="4596063"/>
          </a:xfrm>
          <a:custGeom>
            <a:avLst/>
            <a:gdLst>
              <a:gd name="connsiteX0" fmla="*/ 2237873 w 4612105"/>
              <a:gd name="connsiteY0" fmla="*/ 0 h 4596063"/>
              <a:gd name="connsiteX1" fmla="*/ 4612105 w 4612105"/>
              <a:gd name="connsiteY1" fmla="*/ 0 h 4596063"/>
              <a:gd name="connsiteX2" fmla="*/ 4612105 w 4612105"/>
              <a:gd name="connsiteY2" fmla="*/ 2358189 h 4596063"/>
              <a:gd name="connsiteX3" fmla="*/ 2390273 w 4612105"/>
              <a:gd name="connsiteY3" fmla="*/ 4596063 h 4596063"/>
              <a:gd name="connsiteX4" fmla="*/ 0 w 4612105"/>
              <a:gd name="connsiteY4" fmla="*/ 2237874 h 4596063"/>
              <a:gd name="connsiteX5" fmla="*/ 2237873 w 4612105"/>
              <a:gd name="connsiteY5" fmla="*/ 0 h 4596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12105" h="4596063">
                <a:moveTo>
                  <a:pt x="2237873" y="0"/>
                </a:moveTo>
                <a:lnTo>
                  <a:pt x="4612105" y="0"/>
                </a:lnTo>
                <a:lnTo>
                  <a:pt x="4612105" y="2358189"/>
                </a:lnTo>
                <a:lnTo>
                  <a:pt x="2390273" y="4596063"/>
                </a:lnTo>
                <a:lnTo>
                  <a:pt x="0" y="2237874"/>
                </a:lnTo>
                <a:lnTo>
                  <a:pt x="2237873" y="0"/>
                </a:lnTo>
                <a:close/>
              </a:path>
            </a:pathLst>
          </a:custGeom>
          <a:solidFill>
            <a:srgbClr val="456DC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36547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22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368" userDrawn="1">
          <p15:clr>
            <a:srgbClr val="FBAE40"/>
          </p15:clr>
        </p15:guide>
        <p15:guide id="6" pos="573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42155" y="-1"/>
            <a:ext cx="4575638" cy="4595519"/>
          </a:xfrm>
          <a:custGeom>
            <a:avLst/>
            <a:gdLst>
              <a:gd name="connsiteX0" fmla="*/ 0 w 5631555"/>
              <a:gd name="connsiteY0" fmla="*/ 0 h 4595519"/>
              <a:gd name="connsiteX1" fmla="*/ 5631555 w 5631555"/>
              <a:gd name="connsiteY1" fmla="*/ 0 h 4595519"/>
              <a:gd name="connsiteX2" fmla="*/ 5631555 w 5631555"/>
              <a:gd name="connsiteY2" fmla="*/ 4595519 h 4595519"/>
              <a:gd name="connsiteX3" fmla="*/ 3383631 w 5631555"/>
              <a:gd name="connsiteY3" fmla="*/ 4595519 h 4595519"/>
              <a:gd name="connsiteX4" fmla="*/ 0 w 5631555"/>
              <a:gd name="connsiteY4" fmla="*/ 1217242 h 4595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1555" h="4595519">
                <a:moveTo>
                  <a:pt x="0" y="0"/>
                </a:moveTo>
                <a:lnTo>
                  <a:pt x="5631555" y="0"/>
                </a:lnTo>
                <a:lnTo>
                  <a:pt x="5631555" y="4595519"/>
                </a:lnTo>
                <a:lnTo>
                  <a:pt x="3383631" y="4595519"/>
                </a:lnTo>
                <a:lnTo>
                  <a:pt x="0" y="1217242"/>
                </a:lnTo>
                <a:close/>
              </a:path>
            </a:pathLst>
          </a:custGeom>
        </p:spPr>
      </p:pic>
      <p:sp>
        <p:nvSpPr>
          <p:cNvPr id="12" name="Прямоугольный треугольник 11"/>
          <p:cNvSpPr/>
          <p:nvPr userDrawn="1"/>
        </p:nvSpPr>
        <p:spPr>
          <a:xfrm rot="18900000">
            <a:off x="4881429" y="-1577440"/>
            <a:ext cx="2563341" cy="3154881"/>
          </a:xfrm>
          <a:prstGeom prst="rtTriangle">
            <a:avLst/>
          </a:prstGeom>
          <a:solidFill>
            <a:srgbClr val="7DA4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3" name="Прямоугольный треугольник 12"/>
          <p:cNvSpPr/>
          <p:nvPr userDrawn="1"/>
        </p:nvSpPr>
        <p:spPr>
          <a:xfrm rot="2700000">
            <a:off x="8308974" y="3288903"/>
            <a:ext cx="3208340" cy="2606776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26037" y="2911071"/>
            <a:ext cx="5125240" cy="137493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заголовка</a:t>
            </a:r>
          </a:p>
        </p:txBody>
      </p:sp>
      <p:sp>
        <p:nvSpPr>
          <p:cNvPr id="17" name="Прямоугольный треугольник 16"/>
          <p:cNvSpPr/>
          <p:nvPr userDrawn="1"/>
        </p:nvSpPr>
        <p:spPr>
          <a:xfrm rot="8100000">
            <a:off x="6781266" y="5260773"/>
            <a:ext cx="2598358" cy="3197979"/>
          </a:xfrm>
          <a:prstGeom prst="rtTriangle">
            <a:avLst/>
          </a:prstGeom>
          <a:solidFill>
            <a:srgbClr val="7DA4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3249720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22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368" userDrawn="1">
          <p15:clr>
            <a:srgbClr val="FBAE40"/>
          </p15:clr>
        </p15:guide>
        <p15:guide id="6" pos="573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0689" y="1"/>
            <a:ext cx="4944318" cy="4592291"/>
          </a:xfrm>
          <a:custGeom>
            <a:avLst/>
            <a:gdLst>
              <a:gd name="connsiteX0" fmla="*/ 0 w 6085314"/>
              <a:gd name="connsiteY0" fmla="*/ 0 h 4592291"/>
              <a:gd name="connsiteX1" fmla="*/ 6085314 w 6085314"/>
              <a:gd name="connsiteY1" fmla="*/ 0 h 4592291"/>
              <a:gd name="connsiteX2" fmla="*/ 6085314 w 6085314"/>
              <a:gd name="connsiteY2" fmla="*/ 4592291 h 4592291"/>
              <a:gd name="connsiteX3" fmla="*/ 3824969 w 6085314"/>
              <a:gd name="connsiteY3" fmla="*/ 4592291 h 4592291"/>
              <a:gd name="connsiteX4" fmla="*/ 0 w 6085314"/>
              <a:gd name="connsiteY4" fmla="*/ 757886 h 4592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5314" h="4592291">
                <a:moveTo>
                  <a:pt x="0" y="0"/>
                </a:moveTo>
                <a:lnTo>
                  <a:pt x="6085314" y="0"/>
                </a:lnTo>
                <a:lnTo>
                  <a:pt x="6085314" y="4592291"/>
                </a:lnTo>
                <a:lnTo>
                  <a:pt x="3824969" y="4592291"/>
                </a:lnTo>
                <a:lnTo>
                  <a:pt x="0" y="757886"/>
                </a:lnTo>
                <a:close/>
              </a:path>
            </a:pathLst>
          </a:custGeom>
        </p:spPr>
      </p:pic>
      <p:sp>
        <p:nvSpPr>
          <p:cNvPr id="12" name="Прямоугольный треугольник 11"/>
          <p:cNvSpPr/>
          <p:nvPr userDrawn="1"/>
        </p:nvSpPr>
        <p:spPr>
          <a:xfrm rot="18900000">
            <a:off x="4881429" y="-1577440"/>
            <a:ext cx="2563341" cy="3154881"/>
          </a:xfrm>
          <a:prstGeom prst="rtTriangle">
            <a:avLst/>
          </a:prstGeom>
          <a:solidFill>
            <a:srgbClr val="7DA4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3" name="Прямоугольный треугольник 12"/>
          <p:cNvSpPr/>
          <p:nvPr userDrawn="1"/>
        </p:nvSpPr>
        <p:spPr>
          <a:xfrm rot="2700000">
            <a:off x="8308974" y="3288903"/>
            <a:ext cx="3208340" cy="2606776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26037" y="2911071"/>
            <a:ext cx="5125240" cy="137493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заголовка</a:t>
            </a:r>
          </a:p>
        </p:txBody>
      </p:sp>
      <p:sp>
        <p:nvSpPr>
          <p:cNvPr id="17" name="Прямоугольный треугольник 16"/>
          <p:cNvSpPr/>
          <p:nvPr userDrawn="1"/>
        </p:nvSpPr>
        <p:spPr>
          <a:xfrm rot="8100000">
            <a:off x="6765961" y="5252970"/>
            <a:ext cx="2611037" cy="3213584"/>
          </a:xfrm>
          <a:prstGeom prst="rtTriangle">
            <a:avLst/>
          </a:prstGeom>
          <a:solidFill>
            <a:srgbClr val="7DA4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4061465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22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368" userDrawn="1">
          <p15:clr>
            <a:srgbClr val="FBAE40"/>
          </p15:clr>
        </p15:guide>
        <p15:guide id="6" pos="5737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57913" y="1"/>
            <a:ext cx="3748088" cy="4596502"/>
          </a:xfrm>
          <a:custGeom>
            <a:avLst/>
            <a:gdLst>
              <a:gd name="connsiteX0" fmla="*/ 2396259 w 4954681"/>
              <a:gd name="connsiteY0" fmla="*/ 0 h 4936928"/>
              <a:gd name="connsiteX1" fmla="*/ 4954681 w 4954681"/>
              <a:gd name="connsiteY1" fmla="*/ 0 h 4936928"/>
              <a:gd name="connsiteX2" fmla="*/ 4954681 w 4954681"/>
              <a:gd name="connsiteY2" fmla="*/ 2522916 h 4936928"/>
              <a:gd name="connsiteX3" fmla="*/ 2540669 w 4954681"/>
              <a:gd name="connsiteY3" fmla="*/ 4936928 h 4936928"/>
              <a:gd name="connsiteX4" fmla="*/ 0 w 4954681"/>
              <a:gd name="connsiteY4" fmla="*/ 2396260 h 493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4681" h="4936928">
                <a:moveTo>
                  <a:pt x="2396259" y="0"/>
                </a:moveTo>
                <a:lnTo>
                  <a:pt x="4954681" y="0"/>
                </a:lnTo>
                <a:lnTo>
                  <a:pt x="4954681" y="2522916"/>
                </a:lnTo>
                <a:lnTo>
                  <a:pt x="2540669" y="4936928"/>
                </a:lnTo>
                <a:lnTo>
                  <a:pt x="0" y="2396260"/>
                </a:lnTo>
                <a:close/>
              </a:path>
            </a:pathLst>
          </a:custGeom>
        </p:spPr>
      </p:pic>
      <p:sp>
        <p:nvSpPr>
          <p:cNvPr id="12" name="Прямоугольный треугольник 11"/>
          <p:cNvSpPr/>
          <p:nvPr userDrawn="1"/>
        </p:nvSpPr>
        <p:spPr>
          <a:xfrm rot="18900000">
            <a:off x="4881429" y="-1577440"/>
            <a:ext cx="2563341" cy="3154881"/>
          </a:xfrm>
          <a:prstGeom prst="rtTriangle">
            <a:avLst/>
          </a:prstGeom>
          <a:solidFill>
            <a:srgbClr val="7DA4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3" name="Прямоугольный треугольник 12"/>
          <p:cNvSpPr/>
          <p:nvPr userDrawn="1"/>
        </p:nvSpPr>
        <p:spPr>
          <a:xfrm rot="2700000">
            <a:off x="8308974" y="3288903"/>
            <a:ext cx="3208340" cy="2606776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7" name="Прямоугольный треугольник 16"/>
          <p:cNvSpPr/>
          <p:nvPr userDrawn="1"/>
        </p:nvSpPr>
        <p:spPr>
          <a:xfrm rot="8100000">
            <a:off x="6788020" y="5260773"/>
            <a:ext cx="2598358" cy="3197979"/>
          </a:xfrm>
          <a:prstGeom prst="rtTriangle">
            <a:avLst/>
          </a:prstGeom>
          <a:solidFill>
            <a:srgbClr val="7DA4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26037" y="2911071"/>
            <a:ext cx="5125240" cy="137493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заголовка</a:t>
            </a:r>
          </a:p>
        </p:txBody>
      </p:sp>
      <p:sp>
        <p:nvSpPr>
          <p:cNvPr id="20" name="Текст 2"/>
          <p:cNvSpPr>
            <a:spLocks noGrp="1"/>
          </p:cNvSpPr>
          <p:nvPr>
            <p:ph type="body" idx="13" hasCustomPrompt="1"/>
          </p:nvPr>
        </p:nvSpPr>
        <p:spPr>
          <a:xfrm>
            <a:off x="826037" y="4430495"/>
            <a:ext cx="5125240" cy="63702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3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Текст 2"/>
          <p:cNvSpPr>
            <a:spLocks noGrp="1"/>
          </p:cNvSpPr>
          <p:nvPr>
            <p:ph type="body" idx="14" hasCustomPrompt="1"/>
          </p:nvPr>
        </p:nvSpPr>
        <p:spPr>
          <a:xfrm>
            <a:off x="826037" y="5415559"/>
            <a:ext cx="2997911" cy="639296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lnSpc>
                <a:spcPts val="5200"/>
              </a:lnSpc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82" y="606780"/>
            <a:ext cx="1534167" cy="109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157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22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368" userDrawn="1">
          <p15:clr>
            <a:srgbClr val="FBAE40"/>
          </p15:clr>
        </p15:guide>
        <p15:guide id="6" pos="573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97803" y="0"/>
            <a:ext cx="4608197" cy="6858000"/>
          </a:xfrm>
          <a:prstGeom prst="rect">
            <a:avLst/>
          </a:prstGeom>
        </p:spPr>
      </p:pic>
      <p:sp>
        <p:nvSpPr>
          <p:cNvPr id="16" name="Прямоугольник 15"/>
          <p:cNvSpPr/>
          <p:nvPr userDrawn="1"/>
        </p:nvSpPr>
        <p:spPr>
          <a:xfrm>
            <a:off x="4955359" y="-9144"/>
            <a:ext cx="4956916" cy="6858000"/>
          </a:xfrm>
          <a:prstGeom prst="rect">
            <a:avLst/>
          </a:prstGeom>
          <a:solidFill>
            <a:srgbClr val="7DA4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7" name="Полилиния 16"/>
          <p:cNvSpPr/>
          <p:nvPr userDrawn="1"/>
        </p:nvSpPr>
        <p:spPr>
          <a:xfrm rot="2700000">
            <a:off x="185636" y="645018"/>
            <a:ext cx="7197859" cy="7932711"/>
          </a:xfrm>
          <a:custGeom>
            <a:avLst/>
            <a:gdLst>
              <a:gd name="connsiteX0" fmla="*/ 0 w 7197859"/>
              <a:gd name="connsiteY0" fmla="*/ 1930394 h 9763336"/>
              <a:gd name="connsiteX1" fmla="*/ 1930395 w 7197859"/>
              <a:gd name="connsiteY1" fmla="*/ 0 h 9763336"/>
              <a:gd name="connsiteX2" fmla="*/ 7197859 w 7197859"/>
              <a:gd name="connsiteY2" fmla="*/ 0 h 9763336"/>
              <a:gd name="connsiteX3" fmla="*/ 7197859 w 7197859"/>
              <a:gd name="connsiteY3" fmla="*/ 4464140 h 9763336"/>
              <a:gd name="connsiteX4" fmla="*/ 1898664 w 7197859"/>
              <a:gd name="connsiteY4" fmla="*/ 9763336 h 9763336"/>
              <a:gd name="connsiteX5" fmla="*/ 0 w 7197859"/>
              <a:gd name="connsiteY5" fmla="*/ 7864672 h 9763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97859" h="9763336">
                <a:moveTo>
                  <a:pt x="0" y="1930394"/>
                </a:moveTo>
                <a:lnTo>
                  <a:pt x="1930395" y="0"/>
                </a:lnTo>
                <a:lnTo>
                  <a:pt x="7197859" y="0"/>
                </a:lnTo>
                <a:lnTo>
                  <a:pt x="7197859" y="4464140"/>
                </a:lnTo>
                <a:lnTo>
                  <a:pt x="1898664" y="9763336"/>
                </a:lnTo>
                <a:lnTo>
                  <a:pt x="0" y="7864672"/>
                </a:lnTo>
                <a:close/>
              </a:path>
            </a:pathLst>
          </a:custGeom>
          <a:solidFill>
            <a:srgbClr val="58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latin typeface="+mn-lt"/>
            </a:endParaRPr>
          </a:p>
        </p:txBody>
      </p:sp>
      <p:sp>
        <p:nvSpPr>
          <p:cNvPr id="9" name="Текст 2"/>
          <p:cNvSpPr>
            <a:spLocks noGrp="1"/>
          </p:cNvSpPr>
          <p:nvPr>
            <p:ph type="body" idx="12"/>
          </p:nvPr>
        </p:nvSpPr>
        <p:spPr>
          <a:xfrm>
            <a:off x="1990468" y="2155132"/>
            <a:ext cx="5125240" cy="91225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подзаголовка</a:t>
            </a:r>
          </a:p>
        </p:txBody>
      </p:sp>
      <p:sp>
        <p:nvSpPr>
          <p:cNvPr id="10" name="Текст 2"/>
          <p:cNvSpPr>
            <a:spLocks noGrp="1"/>
          </p:cNvSpPr>
          <p:nvPr>
            <p:ph type="body" idx="13" hasCustomPrompt="1"/>
          </p:nvPr>
        </p:nvSpPr>
        <p:spPr>
          <a:xfrm>
            <a:off x="1990468" y="3674556"/>
            <a:ext cx="5125240" cy="63702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3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2"/>
          <p:cNvSpPr>
            <a:spLocks noGrp="1"/>
          </p:cNvSpPr>
          <p:nvPr>
            <p:ph type="body" idx="14" hasCustomPrompt="1"/>
          </p:nvPr>
        </p:nvSpPr>
        <p:spPr>
          <a:xfrm>
            <a:off x="1990468" y="5415559"/>
            <a:ext cx="2997911" cy="639296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lnSpc>
                <a:spcPts val="5200"/>
              </a:lnSpc>
              <a:buNone/>
              <a:defRPr sz="1600" b="0">
                <a:solidFill>
                  <a:srgbClr val="CADEF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34" y="567999"/>
            <a:ext cx="1384518" cy="99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60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22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368" userDrawn="1">
          <p15:clr>
            <a:srgbClr val="FBAE40"/>
          </p15:clr>
        </p15:guide>
        <p15:guide id="6" pos="573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/>
          <p:cNvSpPr/>
          <p:nvPr userDrawn="1"/>
        </p:nvSpPr>
        <p:spPr>
          <a:xfrm>
            <a:off x="6163099" y="-15623"/>
            <a:ext cx="3766530" cy="4618538"/>
          </a:xfrm>
          <a:custGeom>
            <a:avLst/>
            <a:gdLst>
              <a:gd name="connsiteX0" fmla="*/ 2201334 w 4566357"/>
              <a:gd name="connsiteY0" fmla="*/ 0 h 4549423"/>
              <a:gd name="connsiteX1" fmla="*/ 4566357 w 4566357"/>
              <a:gd name="connsiteY1" fmla="*/ 0 h 4549423"/>
              <a:gd name="connsiteX2" fmla="*/ 4566357 w 4566357"/>
              <a:gd name="connsiteY2" fmla="*/ 2319867 h 4549423"/>
              <a:gd name="connsiteX3" fmla="*/ 2336801 w 4566357"/>
              <a:gd name="connsiteY3" fmla="*/ 4549423 h 4549423"/>
              <a:gd name="connsiteX4" fmla="*/ 0 w 4566357"/>
              <a:gd name="connsiteY4" fmla="*/ 2212622 h 4549423"/>
              <a:gd name="connsiteX5" fmla="*/ 2201334 w 4566357"/>
              <a:gd name="connsiteY5" fmla="*/ 0 h 4549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66357" h="4549423">
                <a:moveTo>
                  <a:pt x="2201334" y="0"/>
                </a:moveTo>
                <a:lnTo>
                  <a:pt x="4566357" y="0"/>
                </a:lnTo>
                <a:lnTo>
                  <a:pt x="4566357" y="2319867"/>
                </a:lnTo>
                <a:lnTo>
                  <a:pt x="2336801" y="4549423"/>
                </a:lnTo>
                <a:lnTo>
                  <a:pt x="0" y="2212622"/>
                </a:lnTo>
                <a:lnTo>
                  <a:pt x="2201334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44755" y="-43404"/>
            <a:ext cx="3765415" cy="4646319"/>
          </a:xfrm>
          <a:custGeom>
            <a:avLst/>
            <a:gdLst>
              <a:gd name="connsiteX0" fmla="*/ 2234776 w 4606648"/>
              <a:gd name="connsiteY0" fmla="*/ 0 h 4618538"/>
              <a:gd name="connsiteX1" fmla="*/ 4606648 w 4606648"/>
              <a:gd name="connsiteY1" fmla="*/ 0 h 4618538"/>
              <a:gd name="connsiteX2" fmla="*/ 4606648 w 4606648"/>
              <a:gd name="connsiteY2" fmla="*/ 2384192 h 4618538"/>
              <a:gd name="connsiteX3" fmla="*/ 2372302 w 4606648"/>
              <a:gd name="connsiteY3" fmla="*/ 4618538 h 4618538"/>
              <a:gd name="connsiteX4" fmla="*/ 0 w 4606648"/>
              <a:gd name="connsiteY4" fmla="*/ 2246236 h 4618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6648" h="4618538">
                <a:moveTo>
                  <a:pt x="2234776" y="0"/>
                </a:moveTo>
                <a:lnTo>
                  <a:pt x="4606648" y="0"/>
                </a:lnTo>
                <a:lnTo>
                  <a:pt x="4606648" y="2384192"/>
                </a:lnTo>
                <a:lnTo>
                  <a:pt x="2372302" y="4618538"/>
                </a:lnTo>
                <a:lnTo>
                  <a:pt x="0" y="2246236"/>
                </a:lnTo>
                <a:close/>
              </a:path>
            </a:pathLst>
          </a:custGeom>
        </p:spPr>
      </p:pic>
      <p:sp>
        <p:nvSpPr>
          <p:cNvPr id="9" name="Текст 2"/>
          <p:cNvSpPr>
            <a:spLocks noGrp="1"/>
          </p:cNvSpPr>
          <p:nvPr>
            <p:ph type="body" idx="12"/>
          </p:nvPr>
        </p:nvSpPr>
        <p:spPr>
          <a:xfrm>
            <a:off x="826037" y="2708443"/>
            <a:ext cx="5125240" cy="91225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4500"/>
              </a:lnSpc>
              <a:buNone/>
              <a:defRPr sz="4800" b="1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подзаголовка</a:t>
            </a:r>
          </a:p>
        </p:txBody>
      </p:sp>
      <p:sp>
        <p:nvSpPr>
          <p:cNvPr id="10" name="Текст 2"/>
          <p:cNvSpPr>
            <a:spLocks noGrp="1"/>
          </p:cNvSpPr>
          <p:nvPr>
            <p:ph type="body" idx="13" hasCustomPrompt="1"/>
          </p:nvPr>
        </p:nvSpPr>
        <p:spPr>
          <a:xfrm>
            <a:off x="826037" y="4036591"/>
            <a:ext cx="5125240" cy="63702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2400" b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2"/>
          <p:cNvSpPr>
            <a:spLocks noGrp="1"/>
          </p:cNvSpPr>
          <p:nvPr>
            <p:ph type="body" idx="14" hasCustomPrompt="1"/>
          </p:nvPr>
        </p:nvSpPr>
        <p:spPr>
          <a:xfrm>
            <a:off x="826037" y="5710843"/>
            <a:ext cx="2997911" cy="554644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lnSpc>
                <a:spcPts val="5200"/>
              </a:lnSpc>
              <a:buNone/>
              <a:defRPr sz="1400" b="0">
                <a:solidFill>
                  <a:srgbClr val="587DC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Прямоугольный треугольник 17"/>
          <p:cNvSpPr/>
          <p:nvPr userDrawn="1"/>
        </p:nvSpPr>
        <p:spPr>
          <a:xfrm rot="8100000">
            <a:off x="6772132" y="5240080"/>
            <a:ext cx="2640829" cy="3250251"/>
          </a:xfrm>
          <a:prstGeom prst="rtTriangle">
            <a:avLst/>
          </a:prstGeom>
          <a:solidFill>
            <a:srgbClr val="7DA4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2" name="Прямоугольный треугольник 1"/>
          <p:cNvSpPr/>
          <p:nvPr userDrawn="1"/>
        </p:nvSpPr>
        <p:spPr>
          <a:xfrm rot="18900000">
            <a:off x="4876680" y="-1577440"/>
            <a:ext cx="2563341" cy="3154881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5" name="Прямоугольный треугольник 14"/>
          <p:cNvSpPr/>
          <p:nvPr userDrawn="1"/>
        </p:nvSpPr>
        <p:spPr>
          <a:xfrm rot="2700000">
            <a:off x="8308974" y="3288903"/>
            <a:ext cx="3208340" cy="2606776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34" y="567999"/>
            <a:ext cx="1384518" cy="99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088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22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368" userDrawn="1">
          <p15:clr>
            <a:srgbClr val="FBAE40"/>
          </p15:clr>
        </p15:guide>
        <p15:guide id="6" pos="573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лилиния 8"/>
          <p:cNvSpPr/>
          <p:nvPr userDrawn="1"/>
        </p:nvSpPr>
        <p:spPr>
          <a:xfrm rot="2700000">
            <a:off x="6075394" y="4383905"/>
            <a:ext cx="3876558" cy="4108085"/>
          </a:xfrm>
          <a:custGeom>
            <a:avLst/>
            <a:gdLst>
              <a:gd name="connsiteX0" fmla="*/ 0 w 3879906"/>
              <a:gd name="connsiteY0" fmla="*/ 0 h 5074251"/>
              <a:gd name="connsiteX1" fmla="*/ 2685562 w 3879906"/>
              <a:gd name="connsiteY1" fmla="*/ 0 h 5074251"/>
              <a:gd name="connsiteX2" fmla="*/ 3879906 w 3879906"/>
              <a:gd name="connsiteY2" fmla="*/ 1194344 h 5074251"/>
              <a:gd name="connsiteX3" fmla="*/ 0 w 3879906"/>
              <a:gd name="connsiteY3" fmla="*/ 5074251 h 507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9906" h="5074251">
                <a:moveTo>
                  <a:pt x="0" y="0"/>
                </a:moveTo>
                <a:lnTo>
                  <a:pt x="2685562" y="0"/>
                </a:lnTo>
                <a:lnTo>
                  <a:pt x="3879906" y="1194344"/>
                </a:lnTo>
                <a:lnTo>
                  <a:pt x="0" y="5074251"/>
                </a:lnTo>
                <a:close/>
              </a:path>
            </a:pathLst>
          </a:custGeom>
          <a:solidFill>
            <a:srgbClr val="58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1" name="Полилиния 10"/>
          <p:cNvSpPr/>
          <p:nvPr userDrawn="1"/>
        </p:nvSpPr>
        <p:spPr>
          <a:xfrm>
            <a:off x="1" y="5104436"/>
            <a:ext cx="1429818" cy="1753566"/>
          </a:xfrm>
          <a:custGeom>
            <a:avLst/>
            <a:gdLst>
              <a:gd name="connsiteX0" fmla="*/ 0 w 1577783"/>
              <a:gd name="connsiteY0" fmla="*/ 0 h 1572215"/>
              <a:gd name="connsiteX1" fmla="*/ 1577783 w 1577783"/>
              <a:gd name="connsiteY1" fmla="*/ 1572215 h 1572215"/>
              <a:gd name="connsiteX2" fmla="*/ 0 w 1577783"/>
              <a:gd name="connsiteY2" fmla="*/ 1572215 h 1572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7783" h="1572215">
                <a:moveTo>
                  <a:pt x="0" y="0"/>
                </a:moveTo>
                <a:lnTo>
                  <a:pt x="1577783" y="1572215"/>
                </a:lnTo>
                <a:lnTo>
                  <a:pt x="0" y="1572215"/>
                </a:lnTo>
                <a:close/>
              </a:path>
            </a:pathLst>
          </a:custGeom>
          <a:solidFill>
            <a:srgbClr val="7DA4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2" name="Полилиния 11"/>
          <p:cNvSpPr/>
          <p:nvPr userDrawn="1"/>
        </p:nvSpPr>
        <p:spPr>
          <a:xfrm rot="2700000">
            <a:off x="-858238" y="-193121"/>
            <a:ext cx="8590520" cy="6979798"/>
          </a:xfrm>
          <a:custGeom>
            <a:avLst/>
            <a:gdLst>
              <a:gd name="connsiteX0" fmla="*/ 0 w 8590520"/>
              <a:gd name="connsiteY0" fmla="*/ 3928172 h 8590520"/>
              <a:gd name="connsiteX1" fmla="*/ 3928172 w 8590520"/>
              <a:gd name="connsiteY1" fmla="*/ 0 h 8590520"/>
              <a:gd name="connsiteX2" fmla="*/ 8590520 w 8590520"/>
              <a:gd name="connsiteY2" fmla="*/ 0 h 8590520"/>
              <a:gd name="connsiteX3" fmla="*/ 8590520 w 8590520"/>
              <a:gd name="connsiteY3" fmla="*/ 5036328 h 8590520"/>
              <a:gd name="connsiteX4" fmla="*/ 5036329 w 8590520"/>
              <a:gd name="connsiteY4" fmla="*/ 8590520 h 8590520"/>
              <a:gd name="connsiteX5" fmla="*/ 2608141 w 8590520"/>
              <a:gd name="connsiteY5" fmla="*/ 8590520 h 8590520"/>
              <a:gd name="connsiteX6" fmla="*/ 0 w 8590520"/>
              <a:gd name="connsiteY6" fmla="*/ 5982379 h 859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90520" h="8590520">
                <a:moveTo>
                  <a:pt x="0" y="3928172"/>
                </a:moveTo>
                <a:lnTo>
                  <a:pt x="3928172" y="0"/>
                </a:lnTo>
                <a:lnTo>
                  <a:pt x="8590520" y="0"/>
                </a:lnTo>
                <a:lnTo>
                  <a:pt x="8590520" y="5036328"/>
                </a:lnTo>
                <a:lnTo>
                  <a:pt x="5036329" y="8590520"/>
                </a:lnTo>
                <a:lnTo>
                  <a:pt x="2608141" y="8590520"/>
                </a:lnTo>
                <a:lnTo>
                  <a:pt x="0" y="5982379"/>
                </a:lnTo>
                <a:close/>
              </a:path>
            </a:pathLst>
          </a:custGeom>
          <a:solidFill>
            <a:srgbClr val="58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4" name="Текст 2"/>
          <p:cNvSpPr>
            <a:spLocks noGrp="1"/>
          </p:cNvSpPr>
          <p:nvPr>
            <p:ph type="body" idx="12"/>
          </p:nvPr>
        </p:nvSpPr>
        <p:spPr>
          <a:xfrm>
            <a:off x="827586" y="1622509"/>
            <a:ext cx="5198304" cy="91225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48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подзаголовка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3" hasCustomPrompt="1"/>
          </p:nvPr>
        </p:nvSpPr>
        <p:spPr>
          <a:xfrm>
            <a:off x="827586" y="3279816"/>
            <a:ext cx="5198304" cy="63702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28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4" hasCustomPrompt="1"/>
          </p:nvPr>
        </p:nvSpPr>
        <p:spPr>
          <a:xfrm>
            <a:off x="836816" y="5336039"/>
            <a:ext cx="5198304" cy="639296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lnSpc>
                <a:spcPts val="5200"/>
              </a:lnSpc>
              <a:buNone/>
              <a:defRPr sz="1600" b="0">
                <a:solidFill>
                  <a:srgbClr val="CADEF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47799" y="3284897"/>
            <a:ext cx="4458201" cy="3573106"/>
          </a:xfrm>
          <a:custGeom>
            <a:avLst/>
            <a:gdLst>
              <a:gd name="connsiteX0" fmla="*/ 3588037 w 5487016"/>
              <a:gd name="connsiteY0" fmla="*/ 0 h 3588037"/>
              <a:gd name="connsiteX1" fmla="*/ 5487016 w 5487016"/>
              <a:gd name="connsiteY1" fmla="*/ 1898979 h 3588037"/>
              <a:gd name="connsiteX2" fmla="*/ 5487016 w 5487016"/>
              <a:gd name="connsiteY2" fmla="*/ 3588037 h 3588037"/>
              <a:gd name="connsiteX3" fmla="*/ 0 w 5487016"/>
              <a:gd name="connsiteY3" fmla="*/ 3588037 h 3588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7016" h="3588037">
                <a:moveTo>
                  <a:pt x="3588037" y="0"/>
                </a:moveTo>
                <a:lnTo>
                  <a:pt x="5487016" y="1898979"/>
                </a:lnTo>
                <a:lnTo>
                  <a:pt x="5487016" y="3588037"/>
                </a:lnTo>
                <a:lnTo>
                  <a:pt x="0" y="3588037"/>
                </a:lnTo>
                <a:close/>
              </a:path>
            </a:pathLst>
          </a:custGeom>
        </p:spPr>
      </p:pic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411" y="568953"/>
            <a:ext cx="1874009" cy="134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569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22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368" userDrawn="1">
          <p15:clr>
            <a:srgbClr val="FBAE40"/>
          </p15:clr>
        </p15:guide>
        <p15:guide id="6" pos="573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"/>
          <p:cNvSpPr/>
          <p:nvPr userDrawn="1"/>
        </p:nvSpPr>
        <p:spPr>
          <a:xfrm>
            <a:off x="1" y="-3696"/>
            <a:ext cx="9487082" cy="6861696"/>
          </a:xfrm>
          <a:custGeom>
            <a:avLst/>
            <a:gdLst>
              <a:gd name="connsiteX0" fmla="*/ 0 w 11676407"/>
              <a:gd name="connsiteY0" fmla="*/ 0 h 6858000"/>
              <a:gd name="connsiteX1" fmla="*/ 11676407 w 11676407"/>
              <a:gd name="connsiteY1" fmla="*/ 0 h 6858000"/>
              <a:gd name="connsiteX2" fmla="*/ 11676407 w 11676407"/>
              <a:gd name="connsiteY2" fmla="*/ 6858000 h 6858000"/>
              <a:gd name="connsiteX3" fmla="*/ 0 w 11676407"/>
              <a:gd name="connsiteY3" fmla="*/ 6858000 h 6858000"/>
              <a:gd name="connsiteX4" fmla="*/ 0 w 11676407"/>
              <a:gd name="connsiteY4" fmla="*/ 0 h 6858000"/>
              <a:gd name="connsiteX0" fmla="*/ 0 w 11676407"/>
              <a:gd name="connsiteY0" fmla="*/ 0 h 6858000"/>
              <a:gd name="connsiteX1" fmla="*/ 6819927 w 11676407"/>
              <a:gd name="connsiteY1" fmla="*/ 0 h 6858000"/>
              <a:gd name="connsiteX2" fmla="*/ 11676407 w 11676407"/>
              <a:gd name="connsiteY2" fmla="*/ 6858000 h 6858000"/>
              <a:gd name="connsiteX3" fmla="*/ 0 w 11676407"/>
              <a:gd name="connsiteY3" fmla="*/ 6858000 h 6858000"/>
              <a:gd name="connsiteX4" fmla="*/ 0 w 11676407"/>
              <a:gd name="connsiteY4" fmla="*/ 0 h 6858000"/>
              <a:gd name="connsiteX0" fmla="*/ 0 w 11676407"/>
              <a:gd name="connsiteY0" fmla="*/ 0 h 6858000"/>
              <a:gd name="connsiteX1" fmla="*/ 6698007 w 11676407"/>
              <a:gd name="connsiteY1" fmla="*/ 10160 h 6858000"/>
              <a:gd name="connsiteX2" fmla="*/ 11676407 w 11676407"/>
              <a:gd name="connsiteY2" fmla="*/ 6858000 h 6858000"/>
              <a:gd name="connsiteX3" fmla="*/ 0 w 11676407"/>
              <a:gd name="connsiteY3" fmla="*/ 6858000 h 6858000"/>
              <a:gd name="connsiteX4" fmla="*/ 0 w 11676407"/>
              <a:gd name="connsiteY4" fmla="*/ 0 h 6858000"/>
              <a:gd name="connsiteX0" fmla="*/ 0 w 11676407"/>
              <a:gd name="connsiteY0" fmla="*/ 0 h 6858000"/>
              <a:gd name="connsiteX1" fmla="*/ 6192316 w 11676407"/>
              <a:gd name="connsiteY1" fmla="*/ 3232 h 6858000"/>
              <a:gd name="connsiteX2" fmla="*/ 11676407 w 11676407"/>
              <a:gd name="connsiteY2" fmla="*/ 6858000 h 6858000"/>
              <a:gd name="connsiteX3" fmla="*/ 0 w 11676407"/>
              <a:gd name="connsiteY3" fmla="*/ 6858000 h 6858000"/>
              <a:gd name="connsiteX4" fmla="*/ 0 w 11676407"/>
              <a:gd name="connsiteY4" fmla="*/ 0 h 6858000"/>
              <a:gd name="connsiteX0" fmla="*/ 0 w 11676407"/>
              <a:gd name="connsiteY0" fmla="*/ 0 h 6858000"/>
              <a:gd name="connsiteX1" fmla="*/ 5589643 w 11676407"/>
              <a:gd name="connsiteY1" fmla="*/ 3232 h 6858000"/>
              <a:gd name="connsiteX2" fmla="*/ 11676407 w 11676407"/>
              <a:gd name="connsiteY2" fmla="*/ 6858000 h 6858000"/>
              <a:gd name="connsiteX3" fmla="*/ 0 w 11676407"/>
              <a:gd name="connsiteY3" fmla="*/ 6858000 h 6858000"/>
              <a:gd name="connsiteX4" fmla="*/ 0 w 11676407"/>
              <a:gd name="connsiteY4" fmla="*/ 0 h 6858000"/>
              <a:gd name="connsiteX0" fmla="*/ 0 w 11676407"/>
              <a:gd name="connsiteY0" fmla="*/ 3695 h 6861695"/>
              <a:gd name="connsiteX1" fmla="*/ 5090879 w 11676407"/>
              <a:gd name="connsiteY1" fmla="*/ 0 h 6861695"/>
              <a:gd name="connsiteX2" fmla="*/ 11676407 w 11676407"/>
              <a:gd name="connsiteY2" fmla="*/ 6861695 h 6861695"/>
              <a:gd name="connsiteX3" fmla="*/ 0 w 11676407"/>
              <a:gd name="connsiteY3" fmla="*/ 6861695 h 6861695"/>
              <a:gd name="connsiteX4" fmla="*/ 0 w 11676407"/>
              <a:gd name="connsiteY4" fmla="*/ 3695 h 6861695"/>
              <a:gd name="connsiteX0" fmla="*/ 0 w 11676407"/>
              <a:gd name="connsiteY0" fmla="*/ 0 h 6858000"/>
              <a:gd name="connsiteX1" fmla="*/ 4779152 w 11676407"/>
              <a:gd name="connsiteY1" fmla="*/ 3232 h 6858000"/>
              <a:gd name="connsiteX2" fmla="*/ 11676407 w 11676407"/>
              <a:gd name="connsiteY2" fmla="*/ 6858000 h 6858000"/>
              <a:gd name="connsiteX3" fmla="*/ 0 w 11676407"/>
              <a:gd name="connsiteY3" fmla="*/ 6858000 h 6858000"/>
              <a:gd name="connsiteX4" fmla="*/ 0 w 11676407"/>
              <a:gd name="connsiteY4" fmla="*/ 0 h 6858000"/>
              <a:gd name="connsiteX0" fmla="*/ 0 w 11676407"/>
              <a:gd name="connsiteY0" fmla="*/ 3695 h 6861695"/>
              <a:gd name="connsiteX1" fmla="*/ 4460498 w 11676407"/>
              <a:gd name="connsiteY1" fmla="*/ 0 h 6861695"/>
              <a:gd name="connsiteX2" fmla="*/ 11676407 w 11676407"/>
              <a:gd name="connsiteY2" fmla="*/ 6861695 h 6861695"/>
              <a:gd name="connsiteX3" fmla="*/ 0 w 11676407"/>
              <a:gd name="connsiteY3" fmla="*/ 6861695 h 6861695"/>
              <a:gd name="connsiteX4" fmla="*/ 0 w 11676407"/>
              <a:gd name="connsiteY4" fmla="*/ 3695 h 6861695"/>
              <a:gd name="connsiteX0" fmla="*/ 0 w 11676407"/>
              <a:gd name="connsiteY0" fmla="*/ 3695 h 6861695"/>
              <a:gd name="connsiteX1" fmla="*/ 4730662 w 11676407"/>
              <a:gd name="connsiteY1" fmla="*/ 0 h 6861695"/>
              <a:gd name="connsiteX2" fmla="*/ 11676407 w 11676407"/>
              <a:gd name="connsiteY2" fmla="*/ 6861695 h 6861695"/>
              <a:gd name="connsiteX3" fmla="*/ 0 w 11676407"/>
              <a:gd name="connsiteY3" fmla="*/ 6861695 h 6861695"/>
              <a:gd name="connsiteX4" fmla="*/ 0 w 11676407"/>
              <a:gd name="connsiteY4" fmla="*/ 3695 h 686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76407" h="6861695">
                <a:moveTo>
                  <a:pt x="0" y="3695"/>
                </a:moveTo>
                <a:lnTo>
                  <a:pt x="4730662" y="0"/>
                </a:lnTo>
                <a:lnTo>
                  <a:pt x="11676407" y="6861695"/>
                </a:lnTo>
                <a:lnTo>
                  <a:pt x="0" y="6861695"/>
                </a:lnTo>
                <a:lnTo>
                  <a:pt x="0" y="369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8" name="Полилиния 17"/>
          <p:cNvSpPr/>
          <p:nvPr userDrawn="1"/>
        </p:nvSpPr>
        <p:spPr>
          <a:xfrm>
            <a:off x="1" y="4561115"/>
            <a:ext cx="1872830" cy="2296887"/>
          </a:xfrm>
          <a:custGeom>
            <a:avLst/>
            <a:gdLst>
              <a:gd name="connsiteX0" fmla="*/ 0 w 1577783"/>
              <a:gd name="connsiteY0" fmla="*/ 0 h 1572215"/>
              <a:gd name="connsiteX1" fmla="*/ 1577783 w 1577783"/>
              <a:gd name="connsiteY1" fmla="*/ 1572215 h 1572215"/>
              <a:gd name="connsiteX2" fmla="*/ 0 w 1577783"/>
              <a:gd name="connsiteY2" fmla="*/ 1572215 h 1572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7783" h="1572215">
                <a:moveTo>
                  <a:pt x="0" y="0"/>
                </a:moveTo>
                <a:lnTo>
                  <a:pt x="1577783" y="1572215"/>
                </a:lnTo>
                <a:lnTo>
                  <a:pt x="0" y="15722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4" name="Текст 2"/>
          <p:cNvSpPr>
            <a:spLocks noGrp="1"/>
          </p:cNvSpPr>
          <p:nvPr>
            <p:ph type="body" idx="12"/>
          </p:nvPr>
        </p:nvSpPr>
        <p:spPr>
          <a:xfrm>
            <a:off x="833742" y="2081592"/>
            <a:ext cx="4756071" cy="91225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4800" b="1">
                <a:solidFill>
                  <a:srgbClr val="587DC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подзаголовка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3" hasCustomPrompt="1"/>
          </p:nvPr>
        </p:nvSpPr>
        <p:spPr>
          <a:xfrm>
            <a:off x="833742" y="3738899"/>
            <a:ext cx="5198304" cy="63702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2800" b="0">
                <a:solidFill>
                  <a:srgbClr val="587DC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411" y="568953"/>
            <a:ext cx="1874009" cy="134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48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22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6" pos="573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олилиния 17"/>
          <p:cNvSpPr/>
          <p:nvPr userDrawn="1"/>
        </p:nvSpPr>
        <p:spPr>
          <a:xfrm>
            <a:off x="1" y="4561115"/>
            <a:ext cx="1872830" cy="2296887"/>
          </a:xfrm>
          <a:custGeom>
            <a:avLst/>
            <a:gdLst>
              <a:gd name="connsiteX0" fmla="*/ 0 w 1577783"/>
              <a:gd name="connsiteY0" fmla="*/ 0 h 1572215"/>
              <a:gd name="connsiteX1" fmla="*/ 1577783 w 1577783"/>
              <a:gd name="connsiteY1" fmla="*/ 1572215 h 1572215"/>
              <a:gd name="connsiteX2" fmla="*/ 0 w 1577783"/>
              <a:gd name="connsiteY2" fmla="*/ 1572215 h 1572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7783" h="1572215">
                <a:moveTo>
                  <a:pt x="0" y="0"/>
                </a:moveTo>
                <a:lnTo>
                  <a:pt x="1577783" y="1572215"/>
                </a:lnTo>
                <a:lnTo>
                  <a:pt x="0" y="15722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4" name="Текст 2"/>
          <p:cNvSpPr>
            <a:spLocks noGrp="1"/>
          </p:cNvSpPr>
          <p:nvPr>
            <p:ph type="body" idx="12"/>
          </p:nvPr>
        </p:nvSpPr>
        <p:spPr>
          <a:xfrm>
            <a:off x="833742" y="2195892"/>
            <a:ext cx="4756071" cy="91225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4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подзаголовка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3" hasCustomPrompt="1"/>
          </p:nvPr>
        </p:nvSpPr>
        <p:spPr>
          <a:xfrm>
            <a:off x="833742" y="3853199"/>
            <a:ext cx="5198304" cy="63702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974" y="440036"/>
            <a:ext cx="1024066" cy="68065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08" y="440802"/>
            <a:ext cx="950697" cy="68141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38" y="435446"/>
            <a:ext cx="940833" cy="676102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5199" y="441565"/>
            <a:ext cx="887195" cy="682174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135" y="444627"/>
            <a:ext cx="1321236" cy="685208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843" y="440802"/>
            <a:ext cx="1440844" cy="681414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271" y="440802"/>
            <a:ext cx="1154155" cy="68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21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22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6" pos="573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17" name="Номер слайда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9200" y="549276"/>
            <a:ext cx="4539063" cy="417879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rgbClr val="587DC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buNone/>
            </a:pPr>
            <a:r>
              <a:rPr lang="ru-RU" dirty="0"/>
              <a:t>Образец</a:t>
            </a:r>
            <a:r>
              <a:rPr lang="en-US" dirty="0"/>
              <a:t> </a:t>
            </a:r>
            <a:r>
              <a:rPr lang="ru-RU" dirty="0"/>
              <a:t>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013882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pos="597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17" name="Номер слайда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413937" y="1776046"/>
            <a:ext cx="4539063" cy="4618217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2"/>
          <p:cNvSpPr>
            <a:spLocks noGrp="1"/>
          </p:cNvSpPr>
          <p:nvPr>
            <p:ph type="body" idx="12" hasCustomPrompt="1"/>
          </p:nvPr>
        </p:nvSpPr>
        <p:spPr>
          <a:xfrm>
            <a:off x="424653" y="557206"/>
            <a:ext cx="4539063" cy="912258"/>
          </a:xfrm>
          <a:prstGeom prst="rect">
            <a:avLst/>
          </a:prstGeom>
        </p:spPr>
        <p:txBody>
          <a:bodyPr lIns="0" anchor="t"/>
          <a:lstStyle>
            <a:lvl1pPr>
              <a:lnSpc>
                <a:spcPts val="2600"/>
              </a:lnSpc>
              <a:buFontTx/>
              <a:buNone/>
              <a:defRPr lang="ru-RU" sz="2400" b="1" dirty="0" smtClean="0">
                <a:solidFill>
                  <a:srgbClr val="587DC7"/>
                </a:solidFill>
              </a:defRPr>
            </a:lvl1pPr>
          </a:lstStyle>
          <a:p>
            <a:pPr marL="0" lvl="0" indent="0">
              <a:buNone/>
            </a:pPr>
            <a:r>
              <a:rPr lang="ru-RU" dirty="0"/>
              <a:t>Образец</a:t>
            </a:r>
            <a:r>
              <a:rPr lang="en-US" dirty="0"/>
              <a:t> </a:t>
            </a:r>
            <a:r>
              <a:rPr lang="ru-RU" dirty="0"/>
              <a:t>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472547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pos="597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олилиния 16"/>
          <p:cNvSpPr/>
          <p:nvPr userDrawn="1"/>
        </p:nvSpPr>
        <p:spPr>
          <a:xfrm rot="2685629">
            <a:off x="5947786" y="-1572460"/>
            <a:ext cx="4203780" cy="3972216"/>
          </a:xfrm>
          <a:custGeom>
            <a:avLst/>
            <a:gdLst>
              <a:gd name="connsiteX0" fmla="*/ 0 w 5173883"/>
              <a:gd name="connsiteY0" fmla="*/ 3968955 h 3972216"/>
              <a:gd name="connsiteX1" fmla="*/ 4002278 w 5173883"/>
              <a:gd name="connsiteY1" fmla="*/ 0 h 3972216"/>
              <a:gd name="connsiteX2" fmla="*/ 5173883 w 5173883"/>
              <a:gd name="connsiteY2" fmla="*/ 1181442 h 3972216"/>
              <a:gd name="connsiteX3" fmla="*/ 5173883 w 5173883"/>
              <a:gd name="connsiteY3" fmla="*/ 3972216 h 3972216"/>
              <a:gd name="connsiteX4" fmla="*/ 0 w 5173883"/>
              <a:gd name="connsiteY4" fmla="*/ 3972216 h 3972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3883" h="3972216">
                <a:moveTo>
                  <a:pt x="0" y="3968955"/>
                </a:moveTo>
                <a:lnTo>
                  <a:pt x="4002278" y="0"/>
                </a:lnTo>
                <a:lnTo>
                  <a:pt x="5173883" y="1181442"/>
                </a:lnTo>
                <a:lnTo>
                  <a:pt x="5173883" y="3972216"/>
                </a:lnTo>
                <a:lnTo>
                  <a:pt x="0" y="3972216"/>
                </a:lnTo>
                <a:close/>
              </a:path>
            </a:pathLst>
          </a:custGeom>
          <a:solidFill>
            <a:srgbClr val="EA884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sz="1800"/>
          </a:p>
        </p:txBody>
      </p:sp>
      <p:pic>
        <p:nvPicPr>
          <p:cNvPr id="31" name="Рисунок 3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>
          <a:xfrm>
            <a:off x="7514114" y="6305551"/>
            <a:ext cx="2228850" cy="365125"/>
          </a:xfrm>
        </p:spPr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"/>
          <p:cNvSpPr>
            <a:spLocks noGrp="1"/>
          </p:cNvSpPr>
          <p:nvPr>
            <p:ph type="body" idx="1"/>
          </p:nvPr>
        </p:nvSpPr>
        <p:spPr>
          <a:xfrm>
            <a:off x="413937" y="2241245"/>
            <a:ext cx="6157248" cy="4153018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3937" y="1549575"/>
            <a:ext cx="453906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2"/>
          </p:nvPr>
        </p:nvSpPr>
        <p:spPr>
          <a:xfrm>
            <a:off x="424653" y="561603"/>
            <a:ext cx="4539063" cy="783621"/>
          </a:xfrm>
          <a:prstGeom prst="rect">
            <a:avLst/>
          </a:prstGeom>
        </p:spPr>
        <p:txBody>
          <a:bodyPr lIns="0"/>
          <a:lstStyle>
            <a:lvl1pPr>
              <a:lnSpc>
                <a:spcPts val="2200"/>
              </a:lnSpc>
              <a:buFontTx/>
              <a:buNone/>
              <a:defRPr lang="ru-RU" sz="2400" b="1" dirty="0" smtClean="0">
                <a:solidFill>
                  <a:schemeClr val="tx1"/>
                </a:solidFill>
              </a:defRPr>
            </a:lvl1pPr>
          </a:lstStyle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Образец</a:t>
            </a:r>
            <a:r>
              <a:rPr lang="en-US" dirty="0"/>
              <a:t> </a:t>
            </a:r>
          </a:p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заголовка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3" hasCustomPrompt="1"/>
          </p:nvPr>
        </p:nvSpPr>
        <p:spPr>
          <a:xfrm>
            <a:off x="6959164" y="899190"/>
            <a:ext cx="2531725" cy="912258"/>
          </a:xfrm>
          <a:prstGeom prst="rect">
            <a:avLst/>
          </a:prstGeom>
        </p:spPr>
        <p:txBody>
          <a:bodyPr lIns="0"/>
          <a:lstStyle>
            <a:lvl1pPr marL="0" indent="0" algn="r">
              <a:lnSpc>
                <a:spcPts val="2600"/>
              </a:lnSpc>
              <a:buNone/>
              <a:defRPr sz="66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4" hasCustomPrompt="1"/>
          </p:nvPr>
        </p:nvSpPr>
        <p:spPr>
          <a:xfrm>
            <a:off x="7821803" y="1556559"/>
            <a:ext cx="1624861" cy="912258"/>
          </a:xfrm>
          <a:prstGeom prst="rect">
            <a:avLst/>
          </a:prstGeom>
        </p:spPr>
        <p:txBody>
          <a:bodyPr lIns="0"/>
          <a:lstStyle>
            <a:lvl1pPr marL="0" indent="0" algn="r">
              <a:lnSpc>
                <a:spcPts val="2600"/>
              </a:lnSpc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акцент</a:t>
            </a:r>
          </a:p>
        </p:txBody>
      </p:sp>
    </p:spTree>
    <p:extLst>
      <p:ext uri="{BB962C8B-B14F-4D97-AF65-F5344CB8AC3E}">
        <p14:creationId xmlns:p14="http://schemas.microsoft.com/office/powerpoint/2010/main" val="4222708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5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976" userDrawn="1">
          <p15:clr>
            <a:srgbClr val="FBAE40"/>
          </p15:clr>
        </p15:guide>
        <p15:guide id="4" orient="horz" pos="3974" userDrawn="1">
          <p15:clr>
            <a:srgbClr val="FBAE40"/>
          </p15:clr>
        </p15:guide>
        <p15:guide id="5" pos="264" userDrawn="1">
          <p15:clr>
            <a:srgbClr val="FBAE40"/>
          </p15:clr>
        </p15:guide>
        <p15:guide id="6" orient="horz" pos="346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 rot="16200000">
            <a:off x="4888666" y="1840660"/>
            <a:ext cx="6857998" cy="3176674"/>
          </a:xfrm>
          <a:prstGeom prst="rect">
            <a:avLst/>
          </a:prstGeom>
          <a:solidFill>
            <a:srgbClr val="587DC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ru-RU" sz="1600" dirty="0"/>
          </a:p>
        </p:txBody>
      </p:sp>
      <p:pic>
        <p:nvPicPr>
          <p:cNvPr id="31" name="Рисунок 3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>
          <a:xfrm>
            <a:off x="7514114" y="6305551"/>
            <a:ext cx="2228850" cy="36512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2"/>
                </a:solidFill>
              </a:defRPr>
            </a:lvl1pPr>
          </a:lstStyle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"/>
          <p:cNvSpPr>
            <a:spLocks noGrp="1"/>
          </p:cNvSpPr>
          <p:nvPr>
            <p:ph type="body" idx="1"/>
          </p:nvPr>
        </p:nvSpPr>
        <p:spPr>
          <a:xfrm>
            <a:off x="413938" y="1877158"/>
            <a:ext cx="5661822" cy="4517105"/>
          </a:xfrm>
          <a:prstGeom prst="rect">
            <a:avLst/>
          </a:prstGeom>
        </p:spPr>
        <p:txBody>
          <a:bodyPr lIns="0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2"/>
          </p:nvPr>
        </p:nvSpPr>
        <p:spPr>
          <a:xfrm>
            <a:off x="413937" y="570394"/>
            <a:ext cx="4539063" cy="91225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2600"/>
              </a:lnSpc>
              <a:buFontTx/>
              <a:buNone/>
              <a:defRPr lang="ru-RU" sz="2400" b="1" baseline="0" dirty="0" smtClean="0">
                <a:solidFill>
                  <a:srgbClr val="587DC7"/>
                </a:solidFill>
              </a:defRPr>
            </a:lvl1pPr>
          </a:lstStyle>
          <a:p>
            <a:pPr marL="228600" lvl="0" indent="-228600">
              <a:lnSpc>
                <a:spcPts val="2600"/>
              </a:lnSpc>
            </a:pPr>
            <a:r>
              <a:rPr lang="ru-RU" dirty="0"/>
              <a:t>Образец</a:t>
            </a:r>
          </a:p>
          <a:p>
            <a:pPr marL="228600" lvl="0" indent="-228600">
              <a:lnSpc>
                <a:spcPts val="2600"/>
              </a:lnSpc>
            </a:pPr>
            <a:r>
              <a:rPr lang="ru-RU" dirty="0"/>
              <a:t>заголовка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4" hasCustomPrompt="1"/>
          </p:nvPr>
        </p:nvSpPr>
        <p:spPr>
          <a:xfrm>
            <a:off x="7252609" y="567251"/>
            <a:ext cx="2231007" cy="912258"/>
          </a:xfrm>
          <a:prstGeom prst="rect">
            <a:avLst/>
          </a:prstGeom>
        </p:spPr>
        <p:txBody>
          <a:bodyPr lIns="0"/>
          <a:lstStyle>
            <a:lvl1pPr marL="0" indent="0" algn="r">
              <a:lnSpc>
                <a:spcPts val="2600"/>
              </a:lnSpc>
              <a:buFont typeface="Arial" panose="020B0604020202020204" pitchFamily="34" charset="0"/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Акценты</a:t>
            </a:r>
          </a:p>
          <a:p>
            <a:pPr lvl="0"/>
            <a:r>
              <a:rPr lang="ru-RU" dirty="0"/>
              <a:t>сноски</a:t>
            </a:r>
          </a:p>
        </p:txBody>
      </p:sp>
      <p:sp>
        <p:nvSpPr>
          <p:cNvPr id="9" name="Прямоугольный треугольник 8"/>
          <p:cNvSpPr/>
          <p:nvPr userDrawn="1"/>
        </p:nvSpPr>
        <p:spPr>
          <a:xfrm rot="13500000">
            <a:off x="6332482" y="678715"/>
            <a:ext cx="739657" cy="600971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>
              <a:buFont typeface="Arial" panose="020B0604020202020204" pitchFamily="34" charset="0"/>
              <a:buNone/>
            </a:pPr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3682074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5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976" userDrawn="1">
          <p15:clr>
            <a:srgbClr val="FBAE40"/>
          </p15:clr>
        </p15:guide>
        <p15:guide id="4" orient="horz" pos="3974" userDrawn="1">
          <p15:clr>
            <a:srgbClr val="FBAE40"/>
          </p15:clr>
        </p15:guide>
        <p15:guide id="5" pos="264" userDrawn="1">
          <p15:clr>
            <a:srgbClr val="FBAE40"/>
          </p15:clr>
        </p15:guide>
        <p15:guide id="6" orient="horz" pos="346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Рисунок 4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3" name="Номер слайда 2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3937" y="1085533"/>
            <a:ext cx="453906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Текст 2"/>
          <p:cNvSpPr>
            <a:spLocks noGrp="1"/>
          </p:cNvSpPr>
          <p:nvPr>
            <p:ph type="body" idx="12" hasCustomPrompt="1"/>
          </p:nvPr>
        </p:nvSpPr>
        <p:spPr>
          <a:xfrm>
            <a:off x="413937" y="557206"/>
            <a:ext cx="6729458" cy="446748"/>
          </a:xfrm>
          <a:prstGeom prst="rect">
            <a:avLst/>
          </a:prstGeom>
        </p:spPr>
        <p:txBody>
          <a:bodyPr lIns="0"/>
          <a:lstStyle>
            <a:lvl1pPr>
              <a:lnSpc>
                <a:spcPts val="2600"/>
              </a:lnSpc>
              <a:buFontTx/>
              <a:buNone/>
              <a:defRPr lang="ru-RU" sz="2400" b="1" dirty="0" smtClean="0">
                <a:solidFill>
                  <a:schemeClr val="tx1"/>
                </a:solidFill>
              </a:defRPr>
            </a:lvl1pPr>
          </a:lstStyle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Образец заголовка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idx="13" hasCustomPrompt="1"/>
          </p:nvPr>
        </p:nvSpPr>
        <p:spPr>
          <a:xfrm>
            <a:off x="5487631" y="2430049"/>
            <a:ext cx="1593412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idx="14" hasCustomPrompt="1"/>
          </p:nvPr>
        </p:nvSpPr>
        <p:spPr>
          <a:xfrm>
            <a:off x="5487631" y="2043606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5487631" y="4397822"/>
            <a:ext cx="1593412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35" name="Текст 2"/>
          <p:cNvSpPr>
            <a:spLocks noGrp="1"/>
          </p:cNvSpPr>
          <p:nvPr>
            <p:ph type="body" idx="16" hasCustomPrompt="1"/>
          </p:nvPr>
        </p:nvSpPr>
        <p:spPr>
          <a:xfrm>
            <a:off x="5487631" y="4011379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3" name="Прямоугольник 32"/>
          <p:cNvSpPr/>
          <p:nvPr userDrawn="1"/>
        </p:nvSpPr>
        <p:spPr>
          <a:xfrm flipH="1">
            <a:off x="413937" y="2133527"/>
            <a:ext cx="84050" cy="103446"/>
          </a:xfrm>
          <a:prstGeom prst="rect">
            <a:avLst/>
          </a:prstGeom>
          <a:solidFill>
            <a:srgbClr val="EA8848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38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628149" y="2430049"/>
            <a:ext cx="1593412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idx="18" hasCustomPrompt="1"/>
          </p:nvPr>
        </p:nvSpPr>
        <p:spPr>
          <a:xfrm>
            <a:off x="628149" y="2043606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0" name="Текст 2"/>
          <p:cNvSpPr>
            <a:spLocks noGrp="1"/>
          </p:cNvSpPr>
          <p:nvPr>
            <p:ph type="body" idx="19" hasCustomPrompt="1"/>
          </p:nvPr>
        </p:nvSpPr>
        <p:spPr>
          <a:xfrm>
            <a:off x="628149" y="4397822"/>
            <a:ext cx="1593412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44" name="Текст 2"/>
          <p:cNvSpPr>
            <a:spLocks noGrp="1"/>
          </p:cNvSpPr>
          <p:nvPr>
            <p:ph type="body" idx="20" hasCustomPrompt="1"/>
          </p:nvPr>
        </p:nvSpPr>
        <p:spPr>
          <a:xfrm>
            <a:off x="628149" y="4011379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8" name="Прямоугольник 17"/>
          <p:cNvSpPr/>
          <p:nvPr userDrawn="1"/>
        </p:nvSpPr>
        <p:spPr>
          <a:xfrm flipH="1">
            <a:off x="413937" y="4084101"/>
            <a:ext cx="84050" cy="103446"/>
          </a:xfrm>
          <a:prstGeom prst="rect">
            <a:avLst/>
          </a:prstGeom>
          <a:solidFill>
            <a:srgbClr val="EA8848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19" name="Прямоугольник 18"/>
          <p:cNvSpPr/>
          <p:nvPr userDrawn="1"/>
        </p:nvSpPr>
        <p:spPr>
          <a:xfrm flipH="1">
            <a:off x="5250256" y="2133527"/>
            <a:ext cx="84050" cy="103446"/>
          </a:xfrm>
          <a:prstGeom prst="rect">
            <a:avLst/>
          </a:prstGeom>
          <a:solidFill>
            <a:srgbClr val="EA8848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20" name="Прямоугольник 19"/>
          <p:cNvSpPr/>
          <p:nvPr userDrawn="1"/>
        </p:nvSpPr>
        <p:spPr>
          <a:xfrm flipH="1">
            <a:off x="5250256" y="4084101"/>
            <a:ext cx="84050" cy="103446"/>
          </a:xfrm>
          <a:prstGeom prst="rect">
            <a:avLst/>
          </a:prstGeom>
          <a:solidFill>
            <a:srgbClr val="EA8848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818983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pos="597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Рисунок 4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3" name="Номер слайда 2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5" name="Прямоугольник 24"/>
          <p:cNvSpPr/>
          <p:nvPr userDrawn="1"/>
        </p:nvSpPr>
        <p:spPr>
          <a:xfrm rot="18900000" flipH="1">
            <a:off x="2911458" y="2560033"/>
            <a:ext cx="84050" cy="103446"/>
          </a:xfrm>
          <a:prstGeom prst="rect">
            <a:avLst/>
          </a:prstGeom>
          <a:solidFill>
            <a:srgbClr val="587DC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26" name="Прямоугольник 25"/>
          <p:cNvSpPr/>
          <p:nvPr userDrawn="1"/>
        </p:nvSpPr>
        <p:spPr>
          <a:xfrm rot="18900000" flipH="1">
            <a:off x="6910493" y="4598586"/>
            <a:ext cx="84050" cy="103446"/>
          </a:xfrm>
          <a:prstGeom prst="rect">
            <a:avLst/>
          </a:prstGeom>
          <a:solidFill>
            <a:srgbClr val="587DC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27" name="Прямоугольник 26"/>
          <p:cNvSpPr/>
          <p:nvPr userDrawn="1"/>
        </p:nvSpPr>
        <p:spPr>
          <a:xfrm rot="18900000" flipH="1">
            <a:off x="2911458" y="4598349"/>
            <a:ext cx="84050" cy="103446"/>
          </a:xfrm>
          <a:prstGeom prst="rect">
            <a:avLst/>
          </a:prstGeom>
          <a:solidFill>
            <a:srgbClr val="587DC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28" name="Прямоугольник 27"/>
          <p:cNvSpPr/>
          <p:nvPr userDrawn="1"/>
        </p:nvSpPr>
        <p:spPr>
          <a:xfrm rot="18900000" flipH="1">
            <a:off x="6910493" y="2561303"/>
            <a:ext cx="84050" cy="103446"/>
          </a:xfrm>
          <a:prstGeom prst="rect">
            <a:avLst/>
          </a:prstGeom>
          <a:solidFill>
            <a:srgbClr val="587DC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31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3937" y="1085533"/>
            <a:ext cx="453906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5" name="Текст 2"/>
          <p:cNvSpPr>
            <a:spLocks noGrp="1"/>
          </p:cNvSpPr>
          <p:nvPr>
            <p:ph type="body" idx="12" hasCustomPrompt="1"/>
          </p:nvPr>
        </p:nvSpPr>
        <p:spPr>
          <a:xfrm>
            <a:off x="413937" y="561602"/>
            <a:ext cx="6729458" cy="44674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2600"/>
              </a:lnSpc>
              <a:buFontTx/>
              <a:buNone/>
              <a:defRPr sz="2400" b="1">
                <a:solidFill>
                  <a:srgbClr val="587DC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36" name="Текст 2"/>
          <p:cNvSpPr>
            <a:spLocks noGrp="1"/>
          </p:cNvSpPr>
          <p:nvPr>
            <p:ph type="body" idx="13" hasCustomPrompt="1"/>
          </p:nvPr>
        </p:nvSpPr>
        <p:spPr>
          <a:xfrm>
            <a:off x="7099940" y="2846939"/>
            <a:ext cx="1593412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37" name="Текст 2"/>
          <p:cNvSpPr>
            <a:spLocks noGrp="1"/>
          </p:cNvSpPr>
          <p:nvPr>
            <p:ph type="body" idx="14" hasCustomPrompt="1"/>
          </p:nvPr>
        </p:nvSpPr>
        <p:spPr>
          <a:xfrm>
            <a:off x="7099940" y="2460496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1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7099940" y="4912071"/>
            <a:ext cx="1593412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42" name="Текст 2"/>
          <p:cNvSpPr>
            <a:spLocks noGrp="1"/>
          </p:cNvSpPr>
          <p:nvPr>
            <p:ph type="body" idx="16" hasCustomPrompt="1"/>
          </p:nvPr>
        </p:nvSpPr>
        <p:spPr>
          <a:xfrm>
            <a:off x="7099940" y="4525628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3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1194381" y="2846939"/>
            <a:ext cx="1593412" cy="318052"/>
          </a:xfrm>
          <a:prstGeom prst="rect">
            <a:avLst/>
          </a:prstGeom>
        </p:spPr>
        <p:txBody>
          <a:bodyPr lIns="0" rIns="0"/>
          <a:lstStyle>
            <a:lvl1pPr marL="0" indent="0" algn="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44" name="Текст 2"/>
          <p:cNvSpPr>
            <a:spLocks noGrp="1"/>
          </p:cNvSpPr>
          <p:nvPr>
            <p:ph type="body" idx="18" hasCustomPrompt="1"/>
          </p:nvPr>
        </p:nvSpPr>
        <p:spPr>
          <a:xfrm>
            <a:off x="1537828" y="2460496"/>
            <a:ext cx="1257273" cy="318052"/>
          </a:xfrm>
          <a:prstGeom prst="rect">
            <a:avLst/>
          </a:prstGeom>
        </p:spPr>
        <p:txBody>
          <a:bodyPr lIns="0" rIns="0"/>
          <a:lstStyle>
            <a:lvl1pPr marL="0" indent="0" algn="r">
              <a:buFontTx/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5" name="Текст 2"/>
          <p:cNvSpPr>
            <a:spLocks noGrp="1"/>
          </p:cNvSpPr>
          <p:nvPr>
            <p:ph type="body" idx="19" hasCustomPrompt="1"/>
          </p:nvPr>
        </p:nvSpPr>
        <p:spPr>
          <a:xfrm>
            <a:off x="1194381" y="4912071"/>
            <a:ext cx="1593412" cy="318052"/>
          </a:xfrm>
          <a:prstGeom prst="rect">
            <a:avLst/>
          </a:prstGeom>
        </p:spPr>
        <p:txBody>
          <a:bodyPr lIns="0" rIns="0"/>
          <a:lstStyle>
            <a:lvl1pPr marL="0" indent="0" algn="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47" name="Текст 2"/>
          <p:cNvSpPr>
            <a:spLocks noGrp="1"/>
          </p:cNvSpPr>
          <p:nvPr>
            <p:ph type="body" idx="20" hasCustomPrompt="1"/>
          </p:nvPr>
        </p:nvSpPr>
        <p:spPr>
          <a:xfrm>
            <a:off x="1519007" y="4525628"/>
            <a:ext cx="1257273" cy="318052"/>
          </a:xfrm>
          <a:prstGeom prst="rect">
            <a:avLst/>
          </a:prstGeom>
        </p:spPr>
        <p:txBody>
          <a:bodyPr lIns="0" rIns="0"/>
          <a:lstStyle>
            <a:lvl1pPr marL="0" indent="0" algn="r">
              <a:buFontTx/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0" name="Прямоугольник 29"/>
          <p:cNvSpPr/>
          <p:nvPr userDrawn="1"/>
        </p:nvSpPr>
        <p:spPr>
          <a:xfrm rot="18900000">
            <a:off x="3727557" y="2287797"/>
            <a:ext cx="2442042" cy="3005588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587796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pos="597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Рисунок 10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grpSp>
        <p:nvGrpSpPr>
          <p:cNvPr id="72" name="Группа 71"/>
          <p:cNvGrpSpPr/>
          <p:nvPr userDrawn="1"/>
        </p:nvGrpSpPr>
        <p:grpSpPr>
          <a:xfrm>
            <a:off x="852439" y="2089592"/>
            <a:ext cx="766158" cy="942964"/>
            <a:chOff x="1660973" y="2709839"/>
            <a:chExt cx="942964" cy="942964"/>
          </a:xfrm>
        </p:grpSpPr>
        <p:sp>
          <p:nvSpPr>
            <p:cNvPr id="45" name="Прямоугольник 44"/>
            <p:cNvSpPr/>
            <p:nvPr userDrawn="1"/>
          </p:nvSpPr>
          <p:spPr>
            <a:xfrm rot="18900000">
              <a:off x="1660973" y="2709839"/>
              <a:ext cx="942964" cy="942964"/>
            </a:xfrm>
            <a:prstGeom prst="rect">
              <a:avLst/>
            </a:prstGeom>
            <a:solidFill>
              <a:srgbClr val="EA88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 dirty="0"/>
            </a:p>
          </p:txBody>
        </p:sp>
        <p:pic>
          <p:nvPicPr>
            <p:cNvPr id="46" name="Рисунок 45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5184" y="2877955"/>
              <a:ext cx="594542" cy="594540"/>
            </a:xfrm>
            <a:prstGeom prst="rect">
              <a:avLst/>
            </a:prstGeom>
          </p:spPr>
        </p:pic>
      </p:grpSp>
      <p:sp>
        <p:nvSpPr>
          <p:cNvPr id="2" name="Номер слайда 1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4" name="Прямоугольник 43"/>
          <p:cNvSpPr/>
          <p:nvPr userDrawn="1"/>
        </p:nvSpPr>
        <p:spPr>
          <a:xfrm rot="18900000">
            <a:off x="4567797" y="2089592"/>
            <a:ext cx="766158" cy="942964"/>
          </a:xfrm>
          <a:prstGeom prst="rect">
            <a:avLst/>
          </a:prstGeom>
          <a:solidFill>
            <a:srgbClr val="EA8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pic>
        <p:nvPicPr>
          <p:cNvPr id="58" name="Рисунок 57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131" y="2245516"/>
            <a:ext cx="511137" cy="629092"/>
          </a:xfrm>
          <a:prstGeom prst="rect">
            <a:avLst/>
          </a:prstGeom>
        </p:spPr>
      </p:pic>
      <p:grpSp>
        <p:nvGrpSpPr>
          <p:cNvPr id="8" name="Группа 7"/>
          <p:cNvGrpSpPr/>
          <p:nvPr userDrawn="1"/>
        </p:nvGrpSpPr>
        <p:grpSpPr>
          <a:xfrm>
            <a:off x="2743252" y="3526957"/>
            <a:ext cx="766158" cy="942964"/>
            <a:chOff x="3648912" y="3883962"/>
            <a:chExt cx="942964" cy="942964"/>
          </a:xfrm>
        </p:grpSpPr>
        <p:sp>
          <p:nvSpPr>
            <p:cNvPr id="103" name="Прямоугольник 102"/>
            <p:cNvSpPr/>
            <p:nvPr userDrawn="1"/>
          </p:nvSpPr>
          <p:spPr>
            <a:xfrm rot="18900000">
              <a:off x="3648912" y="3883962"/>
              <a:ext cx="942964" cy="942964"/>
            </a:xfrm>
            <a:prstGeom prst="rect">
              <a:avLst/>
            </a:prstGeom>
            <a:solidFill>
              <a:srgbClr val="EA88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 dirty="0"/>
            </a:p>
          </p:txBody>
        </p:sp>
        <p:pic>
          <p:nvPicPr>
            <p:cNvPr id="59" name="Рисунок 58"/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3125" y="4052079"/>
              <a:ext cx="594540" cy="594540"/>
            </a:xfrm>
            <a:prstGeom prst="rect">
              <a:avLst/>
            </a:prstGeom>
          </p:spPr>
        </p:pic>
      </p:grpSp>
      <p:grpSp>
        <p:nvGrpSpPr>
          <p:cNvPr id="13" name="Группа 12"/>
          <p:cNvGrpSpPr/>
          <p:nvPr userDrawn="1"/>
        </p:nvGrpSpPr>
        <p:grpSpPr>
          <a:xfrm>
            <a:off x="6377237" y="3526957"/>
            <a:ext cx="766158" cy="942964"/>
            <a:chOff x="7575451" y="3883962"/>
            <a:chExt cx="942964" cy="942964"/>
          </a:xfrm>
        </p:grpSpPr>
        <p:sp>
          <p:nvSpPr>
            <p:cNvPr id="95" name="Прямоугольник 94"/>
            <p:cNvSpPr/>
            <p:nvPr userDrawn="1"/>
          </p:nvSpPr>
          <p:spPr>
            <a:xfrm rot="18900000">
              <a:off x="7575451" y="3883962"/>
              <a:ext cx="942964" cy="942964"/>
            </a:xfrm>
            <a:prstGeom prst="rect">
              <a:avLst/>
            </a:prstGeom>
            <a:solidFill>
              <a:srgbClr val="EA88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 dirty="0"/>
            </a:p>
          </p:txBody>
        </p:sp>
        <p:pic>
          <p:nvPicPr>
            <p:cNvPr id="64" name="Рисунок 63"/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3013" y="4062903"/>
              <a:ext cx="647841" cy="647841"/>
            </a:xfrm>
            <a:prstGeom prst="rect">
              <a:avLst/>
            </a:prstGeom>
          </p:spPr>
        </p:pic>
      </p:grpSp>
      <p:sp>
        <p:nvSpPr>
          <p:cNvPr id="56" name="Прямоугольник 55"/>
          <p:cNvSpPr/>
          <p:nvPr userDrawn="1"/>
        </p:nvSpPr>
        <p:spPr>
          <a:xfrm rot="18900000">
            <a:off x="8109342" y="2089592"/>
            <a:ext cx="766158" cy="942964"/>
          </a:xfrm>
          <a:prstGeom prst="rect">
            <a:avLst/>
          </a:prstGeom>
          <a:solidFill>
            <a:srgbClr val="EA8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pic>
        <p:nvPicPr>
          <p:cNvPr id="67" name="Рисунок 66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875" y="2325943"/>
            <a:ext cx="351093" cy="432115"/>
          </a:xfrm>
          <a:prstGeom prst="rect">
            <a:avLst/>
          </a:prstGeom>
        </p:spPr>
      </p:pic>
      <p:sp>
        <p:nvSpPr>
          <p:cNvPr id="35" name="Текст 2"/>
          <p:cNvSpPr>
            <a:spLocks noGrp="1"/>
          </p:cNvSpPr>
          <p:nvPr userDrawn="1">
            <p:ph type="body" idx="11" hasCustomPrompt="1"/>
          </p:nvPr>
        </p:nvSpPr>
        <p:spPr>
          <a:xfrm>
            <a:off x="413937" y="1068254"/>
            <a:ext cx="453906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6" name="Текст 2"/>
          <p:cNvSpPr>
            <a:spLocks noGrp="1"/>
          </p:cNvSpPr>
          <p:nvPr userDrawn="1">
            <p:ph type="body" idx="12" hasCustomPrompt="1"/>
          </p:nvPr>
        </p:nvSpPr>
        <p:spPr>
          <a:xfrm>
            <a:off x="413937" y="570394"/>
            <a:ext cx="6729458" cy="497860"/>
          </a:xfrm>
          <a:prstGeom prst="rect">
            <a:avLst/>
          </a:prstGeom>
        </p:spPr>
        <p:txBody>
          <a:bodyPr lIns="0"/>
          <a:lstStyle>
            <a:lvl1pPr>
              <a:lnSpc>
                <a:spcPts val="2600"/>
              </a:lnSpc>
              <a:spcBef>
                <a:spcPts val="0"/>
              </a:spcBef>
              <a:buFontTx/>
              <a:buNone/>
              <a:defRPr lang="ru-RU" sz="3200" b="1" dirty="0" smtClean="0">
                <a:solidFill>
                  <a:schemeClr val="tx1"/>
                </a:solidFill>
              </a:defRPr>
            </a:lvl1pPr>
          </a:lstStyle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Образец заголовка</a:t>
            </a:r>
          </a:p>
        </p:txBody>
      </p:sp>
      <p:sp>
        <p:nvSpPr>
          <p:cNvPr id="37" name="Текст 2"/>
          <p:cNvSpPr>
            <a:spLocks noGrp="1"/>
          </p:cNvSpPr>
          <p:nvPr userDrawn="1">
            <p:ph type="body" idx="17" hasCustomPrompt="1"/>
          </p:nvPr>
        </p:nvSpPr>
        <p:spPr>
          <a:xfrm>
            <a:off x="587344" y="3772445"/>
            <a:ext cx="1296349" cy="318052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38" name="Текст 2"/>
          <p:cNvSpPr>
            <a:spLocks noGrp="1"/>
          </p:cNvSpPr>
          <p:nvPr userDrawn="1">
            <p:ph type="body" idx="18" hasCustomPrompt="1"/>
          </p:nvPr>
        </p:nvSpPr>
        <p:spPr>
          <a:xfrm>
            <a:off x="724081" y="3408722"/>
            <a:ext cx="1022877" cy="318052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idx="19" hasCustomPrompt="1"/>
          </p:nvPr>
        </p:nvSpPr>
        <p:spPr>
          <a:xfrm>
            <a:off x="4296870" y="3772445"/>
            <a:ext cx="1296349" cy="318052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41" name="Текст 2"/>
          <p:cNvSpPr>
            <a:spLocks noGrp="1"/>
          </p:cNvSpPr>
          <p:nvPr>
            <p:ph type="body" idx="20" hasCustomPrompt="1"/>
          </p:nvPr>
        </p:nvSpPr>
        <p:spPr>
          <a:xfrm>
            <a:off x="4433606" y="3408722"/>
            <a:ext cx="1022877" cy="318052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9" name="Текст 2"/>
          <p:cNvSpPr>
            <a:spLocks noGrp="1"/>
          </p:cNvSpPr>
          <p:nvPr>
            <p:ph type="body" idx="21" hasCustomPrompt="1"/>
          </p:nvPr>
        </p:nvSpPr>
        <p:spPr>
          <a:xfrm>
            <a:off x="7838334" y="3772445"/>
            <a:ext cx="1296349" cy="318052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50" name="Текст 2"/>
          <p:cNvSpPr>
            <a:spLocks noGrp="1"/>
          </p:cNvSpPr>
          <p:nvPr>
            <p:ph type="body" idx="22" hasCustomPrompt="1"/>
          </p:nvPr>
        </p:nvSpPr>
        <p:spPr>
          <a:xfrm>
            <a:off x="7975070" y="3408722"/>
            <a:ext cx="1022877" cy="318052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51" name="Текст 2"/>
          <p:cNvSpPr>
            <a:spLocks noGrp="1"/>
          </p:cNvSpPr>
          <p:nvPr>
            <p:ph type="body" idx="23" hasCustomPrompt="1"/>
          </p:nvPr>
        </p:nvSpPr>
        <p:spPr>
          <a:xfrm>
            <a:off x="2476169" y="5242273"/>
            <a:ext cx="1296349" cy="318052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52" name="Текст 2"/>
          <p:cNvSpPr>
            <a:spLocks noGrp="1"/>
          </p:cNvSpPr>
          <p:nvPr>
            <p:ph type="body" idx="24" hasCustomPrompt="1"/>
          </p:nvPr>
        </p:nvSpPr>
        <p:spPr>
          <a:xfrm>
            <a:off x="2612906" y="4878550"/>
            <a:ext cx="1022877" cy="318052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53" name="Текст 2"/>
          <p:cNvSpPr>
            <a:spLocks noGrp="1"/>
          </p:cNvSpPr>
          <p:nvPr>
            <p:ph type="body" idx="25" hasCustomPrompt="1"/>
          </p:nvPr>
        </p:nvSpPr>
        <p:spPr>
          <a:xfrm>
            <a:off x="6112140" y="5242273"/>
            <a:ext cx="1296349" cy="318052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57" name="Текст 2"/>
          <p:cNvSpPr>
            <a:spLocks noGrp="1"/>
          </p:cNvSpPr>
          <p:nvPr>
            <p:ph type="body" idx="26" hasCustomPrompt="1"/>
          </p:nvPr>
        </p:nvSpPr>
        <p:spPr>
          <a:xfrm>
            <a:off x="6248877" y="4878550"/>
            <a:ext cx="1022877" cy="318052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805435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pos="264" userDrawn="1">
          <p15:clr>
            <a:srgbClr val="FBAE40"/>
          </p15:clr>
        </p15:guide>
        <p15:guide id="5" orient="horz" pos="346" userDrawn="1">
          <p15:clr>
            <a:srgbClr val="FBAE40"/>
          </p15:clr>
        </p15:guide>
        <p15:guide id="6" pos="5976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5076825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412922" y="3429001"/>
            <a:ext cx="4493079" cy="3428999"/>
          </a:xfrm>
          <a:prstGeom prst="rect">
            <a:avLst/>
          </a:prstGeom>
          <a:solidFill>
            <a:srgbClr val="587DC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51" name="Полилиния 50"/>
          <p:cNvSpPr/>
          <p:nvPr userDrawn="1"/>
        </p:nvSpPr>
        <p:spPr>
          <a:xfrm>
            <a:off x="0" y="0"/>
            <a:ext cx="6804239" cy="6858000"/>
          </a:xfrm>
          <a:custGeom>
            <a:avLst/>
            <a:gdLst>
              <a:gd name="connsiteX0" fmla="*/ 0 w 7370414"/>
              <a:gd name="connsiteY0" fmla="*/ 0 h 6876071"/>
              <a:gd name="connsiteX1" fmla="*/ 6086943 w 7370414"/>
              <a:gd name="connsiteY1" fmla="*/ 0 h 6876071"/>
              <a:gd name="connsiteX2" fmla="*/ 7370414 w 7370414"/>
              <a:gd name="connsiteY2" fmla="*/ 3434211 h 6876071"/>
              <a:gd name="connsiteX3" fmla="*/ 6084084 w 7370414"/>
              <a:gd name="connsiteY3" fmla="*/ 6876071 h 6876071"/>
              <a:gd name="connsiteX4" fmla="*/ 0 w 7370414"/>
              <a:gd name="connsiteY4" fmla="*/ 6876071 h 687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0414" h="6876071">
                <a:moveTo>
                  <a:pt x="0" y="0"/>
                </a:moveTo>
                <a:lnTo>
                  <a:pt x="6086943" y="0"/>
                </a:lnTo>
                <a:lnTo>
                  <a:pt x="7370414" y="3434211"/>
                </a:lnTo>
                <a:lnTo>
                  <a:pt x="6084084" y="6876071"/>
                </a:lnTo>
                <a:lnTo>
                  <a:pt x="0" y="68760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1800" dirty="0">
              <a:solidFill>
                <a:srgbClr val="32A03C"/>
              </a:solidFill>
            </a:endParaRPr>
          </a:p>
        </p:txBody>
      </p:sp>
      <p:pic>
        <p:nvPicPr>
          <p:cNvPr id="105" name="Рисунок 10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45" name="Прямоугольник 44"/>
          <p:cNvSpPr/>
          <p:nvPr userDrawn="1"/>
        </p:nvSpPr>
        <p:spPr>
          <a:xfrm>
            <a:off x="419200" y="2291502"/>
            <a:ext cx="766158" cy="942964"/>
          </a:xfrm>
          <a:prstGeom prst="rect">
            <a:avLst/>
          </a:prstGeom>
          <a:solidFill>
            <a:srgbClr val="58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pic>
        <p:nvPicPr>
          <p:cNvPr id="46" name="Рисунок 4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46" y="2459618"/>
            <a:ext cx="483065" cy="59454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4" name="Группа 3"/>
          <p:cNvGrpSpPr/>
          <p:nvPr userDrawn="1"/>
        </p:nvGrpSpPr>
        <p:grpSpPr>
          <a:xfrm>
            <a:off x="3268667" y="2291502"/>
            <a:ext cx="766158" cy="942964"/>
            <a:chOff x="5628532" y="2352834"/>
            <a:chExt cx="942964" cy="942964"/>
          </a:xfrm>
          <a:solidFill>
            <a:srgbClr val="587DC7"/>
          </a:solidFill>
        </p:grpSpPr>
        <p:sp>
          <p:nvSpPr>
            <p:cNvPr id="44" name="Прямоугольник 43"/>
            <p:cNvSpPr/>
            <p:nvPr userDrawn="1"/>
          </p:nvSpPr>
          <p:spPr>
            <a:xfrm>
              <a:off x="5628532" y="2352834"/>
              <a:ext cx="942964" cy="9429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 dirty="0"/>
            </a:p>
          </p:txBody>
        </p:sp>
        <p:pic>
          <p:nvPicPr>
            <p:cNvPr id="58" name="Рисунок 57"/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6481" y="2508758"/>
              <a:ext cx="629092" cy="629092"/>
            </a:xfrm>
            <a:prstGeom prst="rect">
              <a:avLst/>
            </a:prstGeom>
            <a:grpFill/>
          </p:spPr>
        </p:pic>
      </p:grpSp>
      <p:sp>
        <p:nvSpPr>
          <p:cNvPr id="103" name="Прямоугольник 102"/>
          <p:cNvSpPr/>
          <p:nvPr userDrawn="1"/>
        </p:nvSpPr>
        <p:spPr>
          <a:xfrm>
            <a:off x="419200" y="4443834"/>
            <a:ext cx="766158" cy="942964"/>
          </a:xfrm>
          <a:prstGeom prst="rect">
            <a:avLst/>
          </a:prstGeom>
          <a:solidFill>
            <a:srgbClr val="58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pic>
        <p:nvPicPr>
          <p:cNvPr id="59" name="Рисунок 58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48" y="4611951"/>
            <a:ext cx="483064" cy="594540"/>
          </a:xfrm>
          <a:prstGeom prst="rect">
            <a:avLst/>
          </a:prstGeom>
        </p:spPr>
      </p:pic>
      <p:grpSp>
        <p:nvGrpSpPr>
          <p:cNvPr id="6" name="Группа 5"/>
          <p:cNvGrpSpPr/>
          <p:nvPr userDrawn="1"/>
        </p:nvGrpSpPr>
        <p:grpSpPr>
          <a:xfrm>
            <a:off x="3265406" y="4443834"/>
            <a:ext cx="766158" cy="942964"/>
            <a:chOff x="7588809" y="3526957"/>
            <a:chExt cx="942964" cy="942964"/>
          </a:xfrm>
          <a:solidFill>
            <a:srgbClr val="587DC7"/>
          </a:solidFill>
        </p:grpSpPr>
        <p:sp>
          <p:nvSpPr>
            <p:cNvPr id="95" name="Прямоугольник 94"/>
            <p:cNvSpPr/>
            <p:nvPr userDrawn="1"/>
          </p:nvSpPr>
          <p:spPr>
            <a:xfrm>
              <a:off x="7588809" y="3526957"/>
              <a:ext cx="942964" cy="9429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 dirty="0"/>
            </a:p>
          </p:txBody>
        </p:sp>
        <p:pic>
          <p:nvPicPr>
            <p:cNvPr id="64" name="Рисунок 63"/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6371" y="3674122"/>
              <a:ext cx="647841" cy="647841"/>
            </a:xfrm>
            <a:prstGeom prst="rect">
              <a:avLst/>
            </a:prstGeom>
            <a:grpFill/>
          </p:spPr>
        </p:pic>
      </p:grpSp>
      <p:sp>
        <p:nvSpPr>
          <p:cNvPr id="29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3937" y="1085533"/>
            <a:ext cx="453906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0" name="Текст 2"/>
          <p:cNvSpPr>
            <a:spLocks noGrp="1"/>
          </p:cNvSpPr>
          <p:nvPr>
            <p:ph type="body" idx="12" hasCustomPrompt="1"/>
          </p:nvPr>
        </p:nvSpPr>
        <p:spPr>
          <a:xfrm>
            <a:off x="413938" y="563570"/>
            <a:ext cx="5155880" cy="453572"/>
          </a:xfrm>
          <a:prstGeom prst="rect">
            <a:avLst/>
          </a:prstGeom>
        </p:spPr>
        <p:txBody>
          <a:bodyPr lIns="0"/>
          <a:lstStyle>
            <a:lvl1pPr>
              <a:lnSpc>
                <a:spcPts val="2600"/>
              </a:lnSpc>
              <a:buFontTx/>
              <a:buNone/>
              <a:defRPr lang="ru-RU" sz="2400" b="1" dirty="0" smtClean="0">
                <a:solidFill>
                  <a:srgbClr val="587DC7"/>
                </a:solidFill>
              </a:defRPr>
            </a:lvl1pPr>
          </a:lstStyle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Образец заголовка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3" hasCustomPrompt="1"/>
          </p:nvPr>
        </p:nvSpPr>
        <p:spPr>
          <a:xfrm>
            <a:off x="1353164" y="2846939"/>
            <a:ext cx="1441744" cy="33562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4" hasCustomPrompt="1"/>
          </p:nvPr>
        </p:nvSpPr>
        <p:spPr>
          <a:xfrm>
            <a:off x="1353164" y="2460496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3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1345888" y="4957619"/>
            <a:ext cx="1441744" cy="33562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34" name="Текст 2"/>
          <p:cNvSpPr>
            <a:spLocks noGrp="1"/>
          </p:cNvSpPr>
          <p:nvPr>
            <p:ph type="body" idx="16" hasCustomPrompt="1"/>
          </p:nvPr>
        </p:nvSpPr>
        <p:spPr>
          <a:xfrm>
            <a:off x="1353164" y="4571176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5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4215248" y="2846939"/>
            <a:ext cx="1441744" cy="33562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36" name="Текст 2"/>
          <p:cNvSpPr>
            <a:spLocks noGrp="1"/>
          </p:cNvSpPr>
          <p:nvPr>
            <p:ph type="body" idx="18" hasCustomPrompt="1"/>
          </p:nvPr>
        </p:nvSpPr>
        <p:spPr>
          <a:xfrm>
            <a:off x="4215247" y="2460496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0" name="Текст 2"/>
          <p:cNvSpPr>
            <a:spLocks noGrp="1"/>
          </p:cNvSpPr>
          <p:nvPr>
            <p:ph type="body" idx="19" hasCustomPrompt="1"/>
          </p:nvPr>
        </p:nvSpPr>
        <p:spPr>
          <a:xfrm>
            <a:off x="4207971" y="4957619"/>
            <a:ext cx="1441744" cy="33562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42" name="Текст 2"/>
          <p:cNvSpPr>
            <a:spLocks noGrp="1"/>
          </p:cNvSpPr>
          <p:nvPr>
            <p:ph type="body" idx="20" hasCustomPrompt="1"/>
          </p:nvPr>
        </p:nvSpPr>
        <p:spPr>
          <a:xfrm>
            <a:off x="4215247" y="4571176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3" name="Текст 2"/>
          <p:cNvSpPr>
            <a:spLocks noGrp="1"/>
          </p:cNvSpPr>
          <p:nvPr>
            <p:ph type="body" idx="21" hasCustomPrompt="1"/>
          </p:nvPr>
        </p:nvSpPr>
        <p:spPr>
          <a:xfrm>
            <a:off x="6450806" y="1017142"/>
            <a:ext cx="3087104" cy="455570"/>
          </a:xfrm>
          <a:prstGeom prst="rect">
            <a:avLst/>
          </a:prstGeom>
        </p:spPr>
        <p:txBody>
          <a:bodyPr lIns="0" rIns="0"/>
          <a:lstStyle>
            <a:lvl1pPr marL="0" indent="0" algn="r">
              <a:lnSpc>
                <a:spcPts val="2600"/>
              </a:lnSpc>
              <a:buNone/>
              <a:defRPr sz="8000" b="1">
                <a:solidFill>
                  <a:srgbClr val="587DC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75%</a:t>
            </a:r>
          </a:p>
        </p:txBody>
      </p:sp>
      <p:sp>
        <p:nvSpPr>
          <p:cNvPr id="54" name="Текст 2"/>
          <p:cNvSpPr>
            <a:spLocks noGrp="1"/>
          </p:cNvSpPr>
          <p:nvPr>
            <p:ph type="body" idx="22" hasCustomPrompt="1"/>
          </p:nvPr>
        </p:nvSpPr>
        <p:spPr>
          <a:xfrm>
            <a:off x="8009963" y="1558974"/>
            <a:ext cx="1468815" cy="588894"/>
          </a:xfrm>
          <a:prstGeom prst="rect">
            <a:avLst/>
          </a:prstGeom>
        </p:spPr>
        <p:txBody>
          <a:bodyPr lIns="0" rIns="0"/>
          <a:lstStyle>
            <a:lvl1pPr marL="0" indent="0" algn="r">
              <a:lnSpc>
                <a:spcPts val="2600"/>
              </a:lnSpc>
              <a:buNone/>
              <a:defRPr sz="2800" b="1">
                <a:solidFill>
                  <a:srgbClr val="587DC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акций</a:t>
            </a:r>
          </a:p>
        </p:txBody>
      </p:sp>
    </p:spTree>
    <p:extLst>
      <p:ext uri="{BB962C8B-B14F-4D97-AF65-F5344CB8AC3E}">
        <p14:creationId xmlns:p14="http://schemas.microsoft.com/office/powerpoint/2010/main" val="2657950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pos="264" userDrawn="1">
          <p15:clr>
            <a:srgbClr val="FBAE40"/>
          </p15:clr>
        </p15:guide>
        <p15:guide id="5" orient="horz" pos="346" userDrawn="1">
          <p15:clr>
            <a:srgbClr val="FBAE40"/>
          </p15:clr>
        </p15:guide>
        <p15:guide id="6" pos="5976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3419929" y="0"/>
            <a:ext cx="648607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105" name="Рисунок 10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45" name="Прямоугольник 44"/>
          <p:cNvSpPr/>
          <p:nvPr userDrawn="1"/>
        </p:nvSpPr>
        <p:spPr>
          <a:xfrm>
            <a:off x="419200" y="2291502"/>
            <a:ext cx="766158" cy="942964"/>
          </a:xfrm>
          <a:prstGeom prst="rect">
            <a:avLst/>
          </a:prstGeom>
          <a:solidFill>
            <a:srgbClr val="EA8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pic>
        <p:nvPicPr>
          <p:cNvPr id="46" name="Рисунок 4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46" y="2459618"/>
            <a:ext cx="483065" cy="59454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4" name="Группа 3"/>
          <p:cNvGrpSpPr/>
          <p:nvPr userDrawn="1"/>
        </p:nvGrpSpPr>
        <p:grpSpPr>
          <a:xfrm>
            <a:off x="429311" y="3737328"/>
            <a:ext cx="766158" cy="942964"/>
            <a:chOff x="5628532" y="2352834"/>
            <a:chExt cx="942964" cy="942964"/>
          </a:xfrm>
          <a:solidFill>
            <a:srgbClr val="EA8848"/>
          </a:solidFill>
        </p:grpSpPr>
        <p:sp>
          <p:nvSpPr>
            <p:cNvPr id="44" name="Прямоугольник 43"/>
            <p:cNvSpPr/>
            <p:nvPr userDrawn="1"/>
          </p:nvSpPr>
          <p:spPr>
            <a:xfrm>
              <a:off x="5628532" y="2352834"/>
              <a:ext cx="942964" cy="9429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 dirty="0"/>
            </a:p>
          </p:txBody>
        </p:sp>
        <p:pic>
          <p:nvPicPr>
            <p:cNvPr id="58" name="Рисунок 57"/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6481" y="2508758"/>
              <a:ext cx="629092" cy="629092"/>
            </a:xfrm>
            <a:prstGeom prst="rect">
              <a:avLst/>
            </a:prstGeom>
            <a:grpFill/>
          </p:spPr>
        </p:pic>
      </p:grpSp>
      <p:grpSp>
        <p:nvGrpSpPr>
          <p:cNvPr id="6" name="Группа 5"/>
          <p:cNvGrpSpPr/>
          <p:nvPr userDrawn="1"/>
        </p:nvGrpSpPr>
        <p:grpSpPr>
          <a:xfrm>
            <a:off x="447706" y="5132040"/>
            <a:ext cx="766158" cy="942964"/>
            <a:chOff x="7588809" y="3526957"/>
            <a:chExt cx="942964" cy="942964"/>
          </a:xfrm>
          <a:solidFill>
            <a:srgbClr val="EA8848"/>
          </a:solidFill>
        </p:grpSpPr>
        <p:sp>
          <p:nvSpPr>
            <p:cNvPr id="95" name="Прямоугольник 94"/>
            <p:cNvSpPr/>
            <p:nvPr userDrawn="1"/>
          </p:nvSpPr>
          <p:spPr>
            <a:xfrm>
              <a:off x="7588809" y="3526957"/>
              <a:ext cx="942964" cy="9429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 dirty="0"/>
            </a:p>
          </p:txBody>
        </p:sp>
        <p:pic>
          <p:nvPicPr>
            <p:cNvPr id="64" name="Рисунок 63"/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6371" y="3674122"/>
              <a:ext cx="647841" cy="647841"/>
            </a:xfrm>
            <a:prstGeom prst="rect">
              <a:avLst/>
            </a:prstGeom>
            <a:grpFill/>
          </p:spPr>
        </p:pic>
      </p:grpSp>
      <p:graphicFrame>
        <p:nvGraphicFramePr>
          <p:cNvPr id="30" name="Таблица 29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96615664"/>
              </p:ext>
            </p:extLst>
          </p:nvPr>
        </p:nvGraphicFramePr>
        <p:xfrm>
          <a:off x="3726088" y="580570"/>
          <a:ext cx="5731782" cy="5769222"/>
        </p:xfrm>
        <a:graphic>
          <a:graphicData uri="http://schemas.openxmlformats.org/drawingml/2006/table">
            <a:tbl>
              <a:tblPr/>
              <a:tblGrid>
                <a:gridCol w="2382040">
                  <a:extLst>
                    <a:ext uri="{9D8B030D-6E8A-4147-A177-3AD203B41FA5}">
                      <a16:colId xmlns:a16="http://schemas.microsoft.com/office/drawing/2014/main" val="854557516"/>
                    </a:ext>
                  </a:extLst>
                </a:gridCol>
                <a:gridCol w="669949">
                  <a:extLst>
                    <a:ext uri="{9D8B030D-6E8A-4147-A177-3AD203B41FA5}">
                      <a16:colId xmlns:a16="http://schemas.microsoft.com/office/drawing/2014/main" val="1348275049"/>
                    </a:ext>
                  </a:extLst>
                </a:gridCol>
                <a:gridCol w="669949">
                  <a:extLst>
                    <a:ext uri="{9D8B030D-6E8A-4147-A177-3AD203B41FA5}">
                      <a16:colId xmlns:a16="http://schemas.microsoft.com/office/drawing/2014/main" val="3749987585"/>
                    </a:ext>
                  </a:extLst>
                </a:gridCol>
                <a:gridCol w="669949">
                  <a:extLst>
                    <a:ext uri="{9D8B030D-6E8A-4147-A177-3AD203B41FA5}">
                      <a16:colId xmlns:a16="http://schemas.microsoft.com/office/drawing/2014/main" val="4180355166"/>
                    </a:ext>
                  </a:extLst>
                </a:gridCol>
                <a:gridCol w="669949">
                  <a:extLst>
                    <a:ext uri="{9D8B030D-6E8A-4147-A177-3AD203B41FA5}">
                      <a16:colId xmlns:a16="http://schemas.microsoft.com/office/drawing/2014/main" val="293345694"/>
                    </a:ext>
                  </a:extLst>
                </a:gridCol>
                <a:gridCol w="669949">
                  <a:extLst>
                    <a:ext uri="{9D8B030D-6E8A-4147-A177-3AD203B41FA5}">
                      <a16:colId xmlns:a16="http://schemas.microsoft.com/office/drawing/2014/main" val="1457494057"/>
                    </a:ext>
                  </a:extLst>
                </a:gridCol>
              </a:tblGrid>
              <a:tr h="243689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60958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Показатель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87DC7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План</a:t>
                      </a:r>
                    </a:p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9</a:t>
                      </a:r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м</a:t>
                      </a:r>
                      <a:r>
                        <a:rPr lang="ru-RU" sz="11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2022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87DC7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Факт </a:t>
                      </a:r>
                    </a:p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9</a:t>
                      </a:r>
                      <a:r>
                        <a:rPr lang="ru-RU" sz="11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м </a:t>
                      </a:r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2022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87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krobat" panose="00000600000000000000" pitchFamily="50" charset="-52"/>
                          <a:cs typeface="Calibri" panose="020F0502020204030204" pitchFamily="34" charset="0"/>
                        </a:rPr>
                        <a:t>Отклонение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87DC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60958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3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4F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План</a:t>
                      </a:r>
                    </a:p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2022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87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730794"/>
                  </a:ext>
                </a:extLst>
              </a:tr>
              <a:tr h="24368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abs</a:t>
                      </a:r>
                      <a:endParaRPr lang="ru-RU" sz="11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87D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8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%</a:t>
                      </a:r>
                      <a:endParaRPr lang="ru-RU" sz="11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87DC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60958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081296"/>
                  </a:ext>
                </a:extLst>
              </a:tr>
              <a:tr h="3967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algn="l" defTabSz="609585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Доходы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E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E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E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E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9585" rtl="0" eaLnBrk="1" fontAlgn="ctr" latinLnBrk="0" hangingPunct="1"/>
                      <a:r>
                        <a:rPr lang="ru-RU" sz="1400" b="1" i="0" u="none" strike="noStrike" kern="1200" dirty="0">
                          <a:solidFill>
                            <a:srgbClr val="EA8848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110%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E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E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960404"/>
                  </a:ext>
                </a:extLst>
              </a:tr>
              <a:tr h="2575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Management fee</a:t>
                      </a:r>
                    </a:p>
                  </a:txBody>
                  <a:tcPr marL="69652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(24)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99%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429099"/>
                  </a:ext>
                </a:extLst>
              </a:tr>
              <a:tr h="25753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Success fee</a:t>
                      </a:r>
                    </a:p>
                  </a:txBody>
                  <a:tcPr marL="69652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58500" marR="58500" marT="9525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58500" marR="58500" marT="9525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  <a:endParaRPr kumimoji="0" lang="ru-R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580118"/>
                  </a:ext>
                </a:extLst>
              </a:tr>
              <a:tr h="2575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60958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Целевые взносы </a:t>
                      </a:r>
                    </a:p>
                  </a:txBody>
                  <a:tcPr marL="69652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  <a:endParaRPr kumimoji="0" lang="ru-R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  <a:endParaRPr kumimoji="0" lang="ru-R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  <a:endParaRPr kumimoji="0" lang="ru-R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125%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  <a:endParaRPr kumimoji="0" lang="ru-R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04822"/>
                  </a:ext>
                </a:extLst>
              </a:tr>
              <a:tr h="2575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Размещение собственных средств</a:t>
                      </a:r>
                    </a:p>
                  </a:txBody>
                  <a:tcPr marL="69652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130%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858727"/>
                  </a:ext>
                </a:extLst>
              </a:tr>
              <a:tr h="3117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Расходы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</a:t>
                      </a:r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</a:t>
                      </a:r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(3 689)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0" u="none" strike="noStrike" dirty="0">
                          <a:solidFill>
                            <a:srgbClr val="EA8848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</a:t>
                      </a:r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019233"/>
                  </a:ext>
                </a:extLst>
              </a:tr>
              <a:tr h="2575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Расходы на управление активами</a:t>
                      </a:r>
                      <a:endParaRPr lang="ru-RU" sz="11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6286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815585"/>
                  </a:ext>
                </a:extLst>
              </a:tr>
              <a:tr h="2575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Административные расходы</a:t>
                      </a:r>
                    </a:p>
                  </a:txBody>
                  <a:tcPr marL="46286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250420"/>
                  </a:ext>
                </a:extLst>
              </a:tr>
              <a:tr h="7310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Расходы на заключение и сопровождение</a:t>
                      </a:r>
                      <a:r>
                        <a:rPr lang="ru-RU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пенсионных</a:t>
                      </a:r>
                      <a:r>
                        <a:rPr lang="ru-RU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 договоров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6286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068009"/>
                  </a:ext>
                </a:extLst>
              </a:tr>
              <a:tr h="2575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Расходы</a:t>
                      </a:r>
                      <a:r>
                        <a:rPr lang="ru-RU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 на развитие бизнеса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6286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025629"/>
                  </a:ext>
                </a:extLst>
              </a:tr>
              <a:tr h="487377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Расходы на</a:t>
                      </a:r>
                      <a:r>
                        <a:rPr lang="ru-RU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 переформатирование офисов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6286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342513"/>
                  </a:ext>
                </a:extLst>
              </a:tr>
              <a:tr h="3967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Операционная прибыль</a:t>
                      </a:r>
                    </a:p>
                  </a:txBody>
                  <a:tcPr marL="46286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9585" rtl="0" eaLnBrk="1" fontAlgn="ctr" latinLnBrk="0" hangingPunct="1"/>
                      <a:r>
                        <a:rPr lang="ru-RU" sz="1400" b="1" i="0" u="none" strike="noStrike" kern="1200" dirty="0">
                          <a:solidFill>
                            <a:srgbClr val="EA8848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150%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780149"/>
                  </a:ext>
                </a:extLst>
              </a:tr>
              <a:tr h="2575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Налог на прибыль</a:t>
                      </a:r>
                      <a:endParaRPr lang="ru-RU" sz="1100" b="0" i="0" u="none" strike="noStrike" dirty="0"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6286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255085"/>
                  </a:ext>
                </a:extLst>
              </a:tr>
              <a:tr h="2575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Чистая прибыль</a:t>
                      </a:r>
                    </a:p>
                  </a:txBody>
                  <a:tcPr marL="46286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9585" rtl="0" eaLnBrk="1" fontAlgn="ctr" latinLnBrk="0" hangingPunct="1"/>
                      <a:r>
                        <a:rPr lang="ru-RU" sz="1400" b="1" i="0" u="none" strike="noStrike" kern="1200" dirty="0">
                          <a:solidFill>
                            <a:srgbClr val="EA8848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158%</a:t>
                      </a:r>
                    </a:p>
                  </a:txBody>
                  <a:tcPr marL="2925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986045"/>
                  </a:ext>
                </a:extLst>
              </a:tr>
              <a:tr h="243689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Доходы</a:t>
                      </a:r>
                      <a:r>
                        <a:rPr lang="ru-RU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 от аллокации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6286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  <a:endParaRPr kumimoji="0" lang="ru-R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9525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58500" marR="58500" marT="9525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565295"/>
                  </a:ext>
                </a:extLst>
              </a:tr>
              <a:tr h="39672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Чистая прибыль с</a:t>
                      </a:r>
                      <a:r>
                        <a:rPr lang="ru-RU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 учетом аллокации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6286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EA8848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r>
                        <a:rPr lang="ru-RU" sz="1400" b="1" i="0" u="none" strike="noStrike" dirty="0">
                          <a:solidFill>
                            <a:srgbClr val="EA8848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53</a:t>
                      </a:r>
                      <a:r>
                        <a:rPr lang="en-US" sz="1400" b="1" i="0" u="none" strike="noStrike" dirty="0">
                          <a:solidFill>
                            <a:srgbClr val="EA8848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%</a:t>
                      </a:r>
                      <a:endParaRPr lang="ru-RU" sz="1400" b="1" i="0" u="none" strike="noStrike" dirty="0">
                        <a:solidFill>
                          <a:srgbClr val="EA8848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627205"/>
                  </a:ext>
                </a:extLst>
              </a:tr>
            </a:tbl>
          </a:graphicData>
        </a:graphic>
      </p:graphicFrame>
      <p:sp>
        <p:nvSpPr>
          <p:cNvPr id="22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1367659" y="2780653"/>
            <a:ext cx="1441744" cy="33562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idx="16" hasCustomPrompt="1"/>
          </p:nvPr>
        </p:nvSpPr>
        <p:spPr>
          <a:xfrm>
            <a:off x="1374936" y="2394210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1367659" y="4231486"/>
            <a:ext cx="1441744" cy="33562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7" name="Текст 2"/>
          <p:cNvSpPr>
            <a:spLocks noGrp="1"/>
          </p:cNvSpPr>
          <p:nvPr>
            <p:ph type="body" idx="18" hasCustomPrompt="1"/>
          </p:nvPr>
        </p:nvSpPr>
        <p:spPr>
          <a:xfrm>
            <a:off x="1374936" y="3845043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8" name="Текст 2"/>
          <p:cNvSpPr>
            <a:spLocks noGrp="1"/>
          </p:cNvSpPr>
          <p:nvPr>
            <p:ph type="body" idx="19" hasCustomPrompt="1"/>
          </p:nvPr>
        </p:nvSpPr>
        <p:spPr>
          <a:xfrm>
            <a:off x="1367659" y="5619206"/>
            <a:ext cx="1441744" cy="33562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9" name="Текст 2"/>
          <p:cNvSpPr>
            <a:spLocks noGrp="1"/>
          </p:cNvSpPr>
          <p:nvPr>
            <p:ph type="body" idx="20" hasCustomPrompt="1"/>
          </p:nvPr>
        </p:nvSpPr>
        <p:spPr>
          <a:xfrm>
            <a:off x="1374936" y="5232763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3938" y="1554188"/>
            <a:ext cx="2923442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2"/>
          </p:nvPr>
        </p:nvSpPr>
        <p:spPr>
          <a:xfrm>
            <a:off x="413938" y="570394"/>
            <a:ext cx="2923442" cy="912258"/>
          </a:xfrm>
          <a:prstGeom prst="rect">
            <a:avLst/>
          </a:prstGeom>
        </p:spPr>
        <p:txBody>
          <a:bodyPr lIns="0"/>
          <a:lstStyle>
            <a:lvl1pPr>
              <a:lnSpc>
                <a:spcPts val="2200"/>
              </a:lnSpc>
              <a:buFontTx/>
              <a:buNone/>
              <a:defRPr lang="ru-RU" sz="2400" b="1" dirty="0" smtClean="0">
                <a:solidFill>
                  <a:srgbClr val="587DC7"/>
                </a:solidFill>
              </a:defRPr>
            </a:lvl1pPr>
          </a:lstStyle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Образец </a:t>
            </a:r>
          </a:p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1644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pos="264" userDrawn="1">
          <p15:clr>
            <a:srgbClr val="FBAE40"/>
          </p15:clr>
        </p15:guide>
        <p15:guide id="5" orient="horz" pos="346" userDrawn="1">
          <p15:clr>
            <a:srgbClr val="FBAE40"/>
          </p15:clr>
        </p15:guide>
        <p15:guide id="6" pos="5976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3419929" y="0"/>
            <a:ext cx="648607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105" name="Рисунок 10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2" name="Номер слайда 1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2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1367659" y="2780653"/>
            <a:ext cx="1441744" cy="33562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idx="16" hasCustomPrompt="1"/>
          </p:nvPr>
        </p:nvSpPr>
        <p:spPr>
          <a:xfrm>
            <a:off x="1374936" y="2394210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1367659" y="4231486"/>
            <a:ext cx="1441744" cy="33562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7" name="Текст 2"/>
          <p:cNvSpPr>
            <a:spLocks noGrp="1"/>
          </p:cNvSpPr>
          <p:nvPr>
            <p:ph type="body" idx="18" hasCustomPrompt="1"/>
          </p:nvPr>
        </p:nvSpPr>
        <p:spPr>
          <a:xfrm>
            <a:off x="1374936" y="3845043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8" name="Текст 2"/>
          <p:cNvSpPr>
            <a:spLocks noGrp="1"/>
          </p:cNvSpPr>
          <p:nvPr>
            <p:ph type="body" idx="19" hasCustomPrompt="1"/>
          </p:nvPr>
        </p:nvSpPr>
        <p:spPr>
          <a:xfrm>
            <a:off x="1367659" y="5619206"/>
            <a:ext cx="1441744" cy="33562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9" name="Текст 2"/>
          <p:cNvSpPr>
            <a:spLocks noGrp="1"/>
          </p:cNvSpPr>
          <p:nvPr>
            <p:ph type="body" idx="20" hasCustomPrompt="1"/>
          </p:nvPr>
        </p:nvSpPr>
        <p:spPr>
          <a:xfrm>
            <a:off x="1374936" y="5232763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3938" y="1554188"/>
            <a:ext cx="2923442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2"/>
          </p:nvPr>
        </p:nvSpPr>
        <p:spPr>
          <a:xfrm>
            <a:off x="413938" y="570394"/>
            <a:ext cx="2923442" cy="912258"/>
          </a:xfrm>
          <a:prstGeom prst="rect">
            <a:avLst/>
          </a:prstGeom>
        </p:spPr>
        <p:txBody>
          <a:bodyPr lIns="0"/>
          <a:lstStyle>
            <a:lvl1pPr>
              <a:lnSpc>
                <a:spcPts val="2600"/>
              </a:lnSpc>
              <a:buFontTx/>
              <a:buNone/>
              <a:defRPr lang="ru-RU" sz="3200" b="1" dirty="0" smtClean="0">
                <a:solidFill>
                  <a:srgbClr val="587DC7"/>
                </a:solidFill>
              </a:defRPr>
            </a:lvl1pPr>
          </a:lstStyle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Образец </a:t>
            </a:r>
          </a:p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77864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pos="264" userDrawn="1">
          <p15:clr>
            <a:srgbClr val="FBAE40"/>
          </p15:clr>
        </p15:guide>
        <p15:guide id="5" orient="horz" pos="346" userDrawn="1">
          <p15:clr>
            <a:srgbClr val="FBAE40"/>
          </p15:clr>
        </p15:guide>
        <p15:guide id="6" pos="5976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0" y="3308"/>
            <a:ext cx="9906000" cy="685469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9" name="Стрелка вправо 28"/>
          <p:cNvSpPr/>
          <p:nvPr userDrawn="1"/>
        </p:nvSpPr>
        <p:spPr>
          <a:xfrm rot="10800000">
            <a:off x="4126843" y="3429000"/>
            <a:ext cx="5779157" cy="3429000"/>
          </a:xfrm>
          <a:prstGeom prst="rightArrow">
            <a:avLst>
              <a:gd name="adj1" fmla="val 100000"/>
              <a:gd name="adj2" fmla="val 29676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4" name="Стрелка вправо 3"/>
          <p:cNvSpPr/>
          <p:nvPr userDrawn="1"/>
        </p:nvSpPr>
        <p:spPr>
          <a:xfrm>
            <a:off x="0" y="0"/>
            <a:ext cx="5779157" cy="3429000"/>
          </a:xfrm>
          <a:prstGeom prst="rightArrow">
            <a:avLst>
              <a:gd name="adj1" fmla="val 100000"/>
              <a:gd name="adj2" fmla="val 29676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39" name="Рисунок 3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pic>
        <p:nvPicPr>
          <p:cNvPr id="34" name="Рисунок 3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726" y="4390330"/>
            <a:ext cx="483065" cy="594540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618" y="4415517"/>
            <a:ext cx="511456" cy="629484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0" name="Рисунок 29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619" y="1086515"/>
            <a:ext cx="483066" cy="594543"/>
          </a:xfrm>
          <a:prstGeom prst="rect">
            <a:avLst/>
          </a:prstGeom>
        </p:spPr>
      </p:pic>
      <p:sp>
        <p:nvSpPr>
          <p:cNvPr id="18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3937" y="1542655"/>
            <a:ext cx="453906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413937" y="563570"/>
            <a:ext cx="4539063" cy="91225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2600"/>
              </a:lnSpc>
              <a:buFontTx/>
              <a:buNone/>
              <a:defRPr lang="ru-RU" sz="2400" b="1" dirty="0" smtClean="0">
                <a:solidFill>
                  <a:srgbClr val="587DC7"/>
                </a:solidFill>
              </a:defRPr>
            </a:lvl1pPr>
          </a:lstStyle>
          <a:p>
            <a:pPr marL="228600" lvl="0" indent="-228600">
              <a:lnSpc>
                <a:spcPts val="2600"/>
              </a:lnSpc>
            </a:pPr>
            <a:r>
              <a:rPr lang="ru-RU" dirty="0"/>
              <a:t>Образец </a:t>
            </a:r>
          </a:p>
          <a:p>
            <a:pPr marL="228600" lvl="0" indent="-228600">
              <a:lnSpc>
                <a:spcPts val="2600"/>
              </a:lnSpc>
            </a:pPr>
            <a:r>
              <a:rPr lang="ru-RU" dirty="0"/>
              <a:t>заголовка</a:t>
            </a:r>
          </a:p>
        </p:txBody>
      </p:sp>
      <p:sp>
        <p:nvSpPr>
          <p:cNvPr id="2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6622927" y="1801229"/>
            <a:ext cx="2906260" cy="127187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1" name="Текст 2"/>
          <p:cNvSpPr>
            <a:spLocks noGrp="1"/>
          </p:cNvSpPr>
          <p:nvPr>
            <p:ph type="body" idx="16" hasCustomPrompt="1"/>
          </p:nvPr>
        </p:nvSpPr>
        <p:spPr>
          <a:xfrm>
            <a:off x="7084493" y="1276958"/>
            <a:ext cx="1483577" cy="38644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1396519" y="5151122"/>
            <a:ext cx="2906260" cy="127187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idx="18" hasCustomPrompt="1"/>
          </p:nvPr>
        </p:nvSpPr>
        <p:spPr>
          <a:xfrm>
            <a:off x="1858084" y="4626851"/>
            <a:ext cx="1483577" cy="38644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idx="19" hasCustomPrompt="1"/>
          </p:nvPr>
        </p:nvSpPr>
        <p:spPr>
          <a:xfrm>
            <a:off x="6668550" y="5153064"/>
            <a:ext cx="3489354" cy="127187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20" hasCustomPrompt="1"/>
          </p:nvPr>
        </p:nvSpPr>
        <p:spPr>
          <a:xfrm>
            <a:off x="7130115" y="4628793"/>
            <a:ext cx="1483577" cy="38644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875875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pos="597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  <p15:guide id="7" orient="horz" pos="618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0" y="-2136"/>
            <a:ext cx="9906000" cy="685469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39" name="Рисунок 3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Прямоугольник 2"/>
          <p:cNvSpPr/>
          <p:nvPr userDrawn="1"/>
        </p:nvSpPr>
        <p:spPr>
          <a:xfrm>
            <a:off x="1" y="-2271"/>
            <a:ext cx="3307896" cy="3425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6615793" y="1"/>
            <a:ext cx="3307896" cy="3433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1" name="Прямоугольник 30"/>
          <p:cNvSpPr/>
          <p:nvPr userDrawn="1"/>
        </p:nvSpPr>
        <p:spPr>
          <a:xfrm>
            <a:off x="3307897" y="3429018"/>
            <a:ext cx="3307896" cy="3428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7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3730539" y="1707910"/>
            <a:ext cx="2466056" cy="1875829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18" name="Текст 2"/>
          <p:cNvSpPr>
            <a:spLocks noGrp="1"/>
          </p:cNvSpPr>
          <p:nvPr>
            <p:ph type="body" idx="16" hasCustomPrompt="1"/>
          </p:nvPr>
        </p:nvSpPr>
        <p:spPr>
          <a:xfrm>
            <a:off x="4100052" y="1209678"/>
            <a:ext cx="1727029" cy="350321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7029591" y="5032983"/>
            <a:ext cx="2466056" cy="1875829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0" name="Текст 2"/>
          <p:cNvSpPr>
            <a:spLocks noGrp="1"/>
          </p:cNvSpPr>
          <p:nvPr>
            <p:ph type="body" idx="18" hasCustomPrompt="1"/>
          </p:nvPr>
        </p:nvSpPr>
        <p:spPr>
          <a:xfrm>
            <a:off x="7399104" y="4534751"/>
            <a:ext cx="1727029" cy="350321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2" name="Текст 2"/>
          <p:cNvSpPr>
            <a:spLocks noGrp="1"/>
          </p:cNvSpPr>
          <p:nvPr>
            <p:ph type="body" idx="19" hasCustomPrompt="1"/>
          </p:nvPr>
        </p:nvSpPr>
        <p:spPr>
          <a:xfrm>
            <a:off x="439971" y="5032983"/>
            <a:ext cx="2466056" cy="1875829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20" hasCustomPrompt="1"/>
          </p:nvPr>
        </p:nvSpPr>
        <p:spPr>
          <a:xfrm>
            <a:off x="809484" y="4534751"/>
            <a:ext cx="1727029" cy="350321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9" name="Прямоугольный треугольник 28"/>
          <p:cNvSpPr/>
          <p:nvPr userDrawn="1"/>
        </p:nvSpPr>
        <p:spPr>
          <a:xfrm rot="8100000">
            <a:off x="3821506" y="3118569"/>
            <a:ext cx="550206" cy="677176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30" name="Прямоугольный треугольник 29"/>
          <p:cNvSpPr/>
          <p:nvPr userDrawn="1"/>
        </p:nvSpPr>
        <p:spPr>
          <a:xfrm rot="18900000">
            <a:off x="7112073" y="3083844"/>
            <a:ext cx="550206" cy="677176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32" name="Прямоугольный треугольник 31"/>
          <p:cNvSpPr/>
          <p:nvPr userDrawn="1"/>
        </p:nvSpPr>
        <p:spPr>
          <a:xfrm rot="18900000">
            <a:off x="504564" y="3083844"/>
            <a:ext cx="550206" cy="677176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4135595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pos="597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  <p15:guide id="7" orient="horz" pos="618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 userDrawn="1"/>
        </p:nvSpPr>
        <p:spPr>
          <a:xfrm>
            <a:off x="6605475" y="3429018"/>
            <a:ext cx="3307896" cy="3428981"/>
          </a:xfrm>
          <a:prstGeom prst="rect">
            <a:avLst/>
          </a:prstGeom>
          <a:solidFill>
            <a:srgbClr val="CADEF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3310845" y="-2271"/>
            <a:ext cx="3307896" cy="3425695"/>
          </a:xfrm>
          <a:prstGeom prst="rect">
            <a:avLst/>
          </a:prstGeom>
          <a:solidFill>
            <a:srgbClr val="CADEF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" y="3423425"/>
            <a:ext cx="3307896" cy="3425695"/>
          </a:xfrm>
          <a:prstGeom prst="rect">
            <a:avLst/>
          </a:prstGeom>
          <a:solidFill>
            <a:srgbClr val="CADEF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39" name="Рисунок 3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Прямоугольник 2"/>
          <p:cNvSpPr/>
          <p:nvPr userDrawn="1"/>
        </p:nvSpPr>
        <p:spPr>
          <a:xfrm>
            <a:off x="1" y="-2271"/>
            <a:ext cx="3307896" cy="3425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6615793" y="-2271"/>
            <a:ext cx="3307896" cy="3425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1" name="Прямоугольник 30"/>
          <p:cNvSpPr/>
          <p:nvPr userDrawn="1"/>
        </p:nvSpPr>
        <p:spPr>
          <a:xfrm>
            <a:off x="3307897" y="3429018"/>
            <a:ext cx="3307896" cy="3428981"/>
          </a:xfrm>
          <a:prstGeom prst="rect">
            <a:avLst/>
          </a:prstGeom>
          <a:solidFill>
            <a:srgbClr val="587DC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846" y="609989"/>
            <a:ext cx="2597226" cy="219803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366" y="4060072"/>
            <a:ext cx="2150113" cy="2152399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93" y="4035684"/>
            <a:ext cx="3104756" cy="2133068"/>
          </a:xfrm>
          <a:prstGeom prst="rect">
            <a:avLst/>
          </a:prstGeom>
        </p:spPr>
      </p:pic>
      <p:sp>
        <p:nvSpPr>
          <p:cNvPr id="26" name="Текст 2"/>
          <p:cNvSpPr>
            <a:spLocks noGrp="1"/>
          </p:cNvSpPr>
          <p:nvPr>
            <p:ph type="body" idx="19" hasCustomPrompt="1"/>
          </p:nvPr>
        </p:nvSpPr>
        <p:spPr>
          <a:xfrm>
            <a:off x="439971" y="1047508"/>
            <a:ext cx="2466056" cy="1875829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7" name="Текст 2"/>
          <p:cNvSpPr>
            <a:spLocks noGrp="1"/>
          </p:cNvSpPr>
          <p:nvPr>
            <p:ph type="body" idx="20" hasCustomPrompt="1"/>
          </p:nvPr>
        </p:nvSpPr>
        <p:spPr>
          <a:xfrm>
            <a:off x="809484" y="549276"/>
            <a:ext cx="1727029" cy="350321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8" name="Текст 2"/>
          <p:cNvSpPr>
            <a:spLocks noGrp="1"/>
          </p:cNvSpPr>
          <p:nvPr>
            <p:ph type="body" idx="21" hasCustomPrompt="1"/>
          </p:nvPr>
        </p:nvSpPr>
        <p:spPr>
          <a:xfrm>
            <a:off x="7008539" y="1047508"/>
            <a:ext cx="2466056" cy="1875829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9" name="Текст 2"/>
          <p:cNvSpPr>
            <a:spLocks noGrp="1"/>
          </p:cNvSpPr>
          <p:nvPr>
            <p:ph type="body" idx="22" hasCustomPrompt="1"/>
          </p:nvPr>
        </p:nvSpPr>
        <p:spPr>
          <a:xfrm>
            <a:off x="7378052" y="549276"/>
            <a:ext cx="1727029" cy="350321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0" name="Текст 2"/>
          <p:cNvSpPr>
            <a:spLocks noGrp="1"/>
          </p:cNvSpPr>
          <p:nvPr>
            <p:ph type="body" idx="23" hasCustomPrompt="1"/>
          </p:nvPr>
        </p:nvSpPr>
        <p:spPr>
          <a:xfrm>
            <a:off x="3743639" y="4381088"/>
            <a:ext cx="2466056" cy="1875829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24" hasCustomPrompt="1"/>
          </p:nvPr>
        </p:nvSpPr>
        <p:spPr>
          <a:xfrm>
            <a:off x="4113151" y="3882856"/>
            <a:ext cx="1727029" cy="350321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2" name="Прямоугольный треугольник 21"/>
          <p:cNvSpPr/>
          <p:nvPr userDrawn="1"/>
        </p:nvSpPr>
        <p:spPr>
          <a:xfrm rot="18900000">
            <a:off x="513157" y="3083844"/>
            <a:ext cx="550206" cy="677176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24" name="Прямоугольный треугольник 23"/>
          <p:cNvSpPr/>
          <p:nvPr userDrawn="1"/>
        </p:nvSpPr>
        <p:spPr>
          <a:xfrm rot="8100000">
            <a:off x="3853899" y="3094004"/>
            <a:ext cx="550206" cy="677176"/>
          </a:xfrm>
          <a:prstGeom prst="rtTriangle">
            <a:avLst/>
          </a:prstGeom>
          <a:solidFill>
            <a:srgbClr val="587DC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33" name="Прямоугольный треугольник 32"/>
          <p:cNvSpPr/>
          <p:nvPr userDrawn="1"/>
        </p:nvSpPr>
        <p:spPr>
          <a:xfrm rot="18900000">
            <a:off x="7102948" y="3083844"/>
            <a:ext cx="550206" cy="677176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2103250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pos="597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  <p15:guide id="7" orient="horz" pos="618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68380" y="0"/>
            <a:ext cx="6237620" cy="6858000"/>
          </a:xfrm>
          <a:prstGeom prst="rect">
            <a:avLst/>
          </a:prstGeom>
        </p:spPr>
      </p:pic>
      <p:sp>
        <p:nvSpPr>
          <p:cNvPr id="24" name="Полилиния 23"/>
          <p:cNvSpPr/>
          <p:nvPr userDrawn="1"/>
        </p:nvSpPr>
        <p:spPr>
          <a:xfrm>
            <a:off x="133229" y="0"/>
            <a:ext cx="6641767" cy="6876071"/>
          </a:xfrm>
          <a:custGeom>
            <a:avLst/>
            <a:gdLst>
              <a:gd name="connsiteX0" fmla="*/ 0 w 7370414"/>
              <a:gd name="connsiteY0" fmla="*/ 0 h 6876071"/>
              <a:gd name="connsiteX1" fmla="*/ 6086943 w 7370414"/>
              <a:gd name="connsiteY1" fmla="*/ 0 h 6876071"/>
              <a:gd name="connsiteX2" fmla="*/ 7370414 w 7370414"/>
              <a:gd name="connsiteY2" fmla="*/ 3434211 h 6876071"/>
              <a:gd name="connsiteX3" fmla="*/ 6084084 w 7370414"/>
              <a:gd name="connsiteY3" fmla="*/ 6876071 h 6876071"/>
              <a:gd name="connsiteX4" fmla="*/ 0 w 7370414"/>
              <a:gd name="connsiteY4" fmla="*/ 6876071 h 687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0414" h="6876071">
                <a:moveTo>
                  <a:pt x="0" y="0"/>
                </a:moveTo>
                <a:lnTo>
                  <a:pt x="6086943" y="0"/>
                </a:lnTo>
                <a:lnTo>
                  <a:pt x="7370414" y="3434211"/>
                </a:lnTo>
                <a:lnTo>
                  <a:pt x="6084084" y="6876071"/>
                </a:lnTo>
                <a:lnTo>
                  <a:pt x="0" y="6876071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1800" dirty="0">
              <a:solidFill>
                <a:srgbClr val="32A03C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8281" y="5092265"/>
            <a:ext cx="2093430" cy="2337673"/>
          </a:xfrm>
          <a:prstGeom prst="rect">
            <a:avLst/>
          </a:prstGeom>
        </p:spPr>
      </p:pic>
      <p:sp>
        <p:nvSpPr>
          <p:cNvPr id="23" name="Полилиния 22"/>
          <p:cNvSpPr/>
          <p:nvPr userDrawn="1"/>
        </p:nvSpPr>
        <p:spPr>
          <a:xfrm>
            <a:off x="0" y="6825"/>
            <a:ext cx="6641767" cy="6876071"/>
          </a:xfrm>
          <a:custGeom>
            <a:avLst/>
            <a:gdLst>
              <a:gd name="connsiteX0" fmla="*/ 0 w 7370414"/>
              <a:gd name="connsiteY0" fmla="*/ 0 h 6876071"/>
              <a:gd name="connsiteX1" fmla="*/ 6086943 w 7370414"/>
              <a:gd name="connsiteY1" fmla="*/ 0 h 6876071"/>
              <a:gd name="connsiteX2" fmla="*/ 7370414 w 7370414"/>
              <a:gd name="connsiteY2" fmla="*/ 3434211 h 6876071"/>
              <a:gd name="connsiteX3" fmla="*/ 6084084 w 7370414"/>
              <a:gd name="connsiteY3" fmla="*/ 6876071 h 6876071"/>
              <a:gd name="connsiteX4" fmla="*/ 0 w 7370414"/>
              <a:gd name="connsiteY4" fmla="*/ 6876071 h 687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0414" h="6876071">
                <a:moveTo>
                  <a:pt x="0" y="0"/>
                </a:moveTo>
                <a:lnTo>
                  <a:pt x="6086943" y="0"/>
                </a:lnTo>
                <a:lnTo>
                  <a:pt x="7370414" y="3434211"/>
                </a:lnTo>
                <a:lnTo>
                  <a:pt x="6084084" y="6876071"/>
                </a:lnTo>
                <a:lnTo>
                  <a:pt x="0" y="6876071"/>
                </a:lnTo>
                <a:close/>
              </a:path>
            </a:pathLst>
          </a:custGeom>
          <a:solidFill>
            <a:srgbClr val="EA8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1800" dirty="0">
              <a:solidFill>
                <a:srgbClr val="32A03C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2"/>
          <p:cNvSpPr>
            <a:spLocks noGrp="1"/>
          </p:cNvSpPr>
          <p:nvPr>
            <p:ph type="body" idx="1"/>
          </p:nvPr>
        </p:nvSpPr>
        <p:spPr>
          <a:xfrm>
            <a:off x="413938" y="2248069"/>
            <a:ext cx="5022570" cy="4153018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3937" y="1570047"/>
            <a:ext cx="453906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2"/>
          </p:nvPr>
        </p:nvSpPr>
        <p:spPr>
          <a:xfrm>
            <a:off x="413937" y="577218"/>
            <a:ext cx="4539063" cy="91225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2600"/>
              </a:lnSpc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263703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pos="597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97317813"/>
              </p:ext>
            </p:extLst>
          </p:nvPr>
        </p:nvGraphicFramePr>
        <p:xfrm>
          <a:off x="419201" y="1675805"/>
          <a:ext cx="9067600" cy="462974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87539">
                  <a:extLst>
                    <a:ext uri="{9D8B030D-6E8A-4147-A177-3AD203B41FA5}">
                      <a16:colId xmlns:a16="http://schemas.microsoft.com/office/drawing/2014/main" val="212867071"/>
                    </a:ext>
                  </a:extLst>
                </a:gridCol>
                <a:gridCol w="3610449">
                  <a:extLst>
                    <a:ext uri="{9D8B030D-6E8A-4147-A177-3AD203B41FA5}">
                      <a16:colId xmlns:a16="http://schemas.microsoft.com/office/drawing/2014/main" val="566604225"/>
                    </a:ext>
                  </a:extLst>
                </a:gridCol>
                <a:gridCol w="3869613">
                  <a:extLst>
                    <a:ext uri="{9D8B030D-6E8A-4147-A177-3AD203B41FA5}">
                      <a16:colId xmlns:a16="http://schemas.microsoft.com/office/drawing/2014/main" val="1535340695"/>
                    </a:ext>
                  </a:extLst>
                </a:gridCol>
              </a:tblGrid>
              <a:tr h="502489">
                <a:tc>
                  <a:txBody>
                    <a:bodyPr/>
                    <a:lstStyle/>
                    <a:p>
                      <a:pPr lvl="0" algn="l"/>
                      <a:r>
                        <a:rPr lang="ru-RU" sz="90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Параметры</a:t>
                      </a:r>
                      <a:br>
                        <a:rPr lang="en-US" sz="90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r>
                        <a:rPr lang="ru-RU" sz="90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продукта</a:t>
                      </a:r>
                      <a:endParaRPr lang="ru-RU" sz="90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70329" marT="43279" marB="4327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Программа 1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70329" marT="43279" marB="4327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Программа 2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70329" marT="43279" marB="4327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040898"/>
                  </a:ext>
                </a:extLst>
              </a:tr>
              <a:tr h="5271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Минимальный</a:t>
                      </a:r>
                      <a:r>
                        <a:rPr lang="ru-RU" sz="900" b="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первый взнос/текущий взнос</a:t>
                      </a:r>
                      <a:endParaRPr lang="ru-RU" sz="900" b="0" i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от 5 000 000 руб. / от 100 000 руб.</a:t>
                      </a:r>
                      <a:endParaRPr lang="ru-RU" sz="900" b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ru-RU" sz="900" b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от 1 000 000 руб. / от 100 000 руб.</a:t>
                      </a:r>
                      <a:endParaRPr lang="ru-RU" sz="900" b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465673"/>
                  </a:ext>
                </a:extLst>
              </a:tr>
              <a:tr h="371923">
                <a:tc>
                  <a:txBody>
                    <a:bodyPr/>
                    <a:lstStyle/>
                    <a:p>
                      <a:pPr lvl="0" algn="l"/>
                      <a:r>
                        <a:rPr lang="ru-RU" sz="9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Инвест стратегия</a:t>
                      </a:r>
                      <a:endParaRPr lang="ru-RU" sz="900" b="1" i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одна из 3-х стратегий на периоды гарантирования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Базовая</a:t>
                      </a: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по окончании гарантирования</a:t>
                      </a:r>
                      <a:endParaRPr lang="ru-RU" sz="900" kern="120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/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Базовая</a:t>
                      </a:r>
                      <a:endParaRPr lang="ru-RU" sz="900" kern="120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92493"/>
                  </a:ext>
                </a:extLst>
              </a:tr>
              <a:tr h="516559">
                <a:tc>
                  <a:txBody>
                    <a:bodyPr/>
                    <a:lstStyle/>
                    <a:p>
                      <a:pPr lvl="0" algn="l"/>
                      <a:r>
                        <a:rPr lang="ru-RU" sz="9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Период</a:t>
                      </a:r>
                      <a:r>
                        <a:rPr lang="ru-RU" sz="9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гарантии</a:t>
                      </a:r>
                      <a:br>
                        <a:rPr lang="en-US" sz="9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r>
                        <a:rPr lang="ru-RU" sz="9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на первый взнос</a:t>
                      </a:r>
                      <a:endParaRPr lang="ru-RU" sz="900" b="1" i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года</a:t>
                      </a:r>
                      <a:endParaRPr lang="ru-RU" sz="900" kern="120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 лет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 лет</a:t>
                      </a:r>
                      <a:endParaRPr lang="ru-RU" sz="900" kern="1200" baseline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до даты наступления пенсионных оснований, но не менее 3-х</a:t>
                      </a: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лет</a:t>
                      </a:r>
                      <a:endParaRPr lang="ru-RU" sz="900" kern="120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850243"/>
                  </a:ext>
                </a:extLst>
              </a:tr>
              <a:tr h="4157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Период</a:t>
                      </a:r>
                      <a:r>
                        <a:rPr lang="ru-RU" sz="9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гарантии</a:t>
                      </a:r>
                      <a:br>
                        <a:rPr lang="en-US" sz="9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r>
                        <a:rPr lang="ru-RU" sz="9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на доп. взносы</a:t>
                      </a:r>
                      <a:endParaRPr lang="ru-RU" sz="900" b="1" i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на взносы, внесенные в течение 6 мес. с даты договора,</a:t>
                      </a:r>
                      <a:br>
                        <a:rPr lang="en-US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но не позднее 30.03.2058</a:t>
                      </a:r>
                      <a:endParaRPr lang="ru-RU" sz="900" kern="1200" baseline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любые доп. взносы разрешены</a:t>
                      </a:r>
                      <a:endParaRPr lang="ru-RU" sz="900" kern="1200" baseline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234968"/>
                  </a:ext>
                </a:extLst>
              </a:tr>
              <a:tr h="415793">
                <a:tc>
                  <a:txBody>
                    <a:bodyPr/>
                    <a:lstStyle/>
                    <a:p>
                      <a:pPr lvl="0" algn="l"/>
                      <a:r>
                        <a:rPr lang="ru-RU" sz="9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Норма доходности</a:t>
                      </a:r>
                      <a:endParaRPr lang="ru-RU" sz="900" b="1" i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EF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ru-RU" sz="900" b="1" kern="12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50% годовых на взносы </a:t>
                      </a:r>
                      <a:r>
                        <a:rPr lang="en-US" sz="900" b="1" kern="12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| </a:t>
                      </a:r>
                      <a:r>
                        <a:rPr lang="ru-RU" sz="900" b="1" kern="12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минимальный потенциал сверх</a:t>
                      </a:r>
                      <a:endParaRPr lang="ru-RU" sz="900" b="1" kern="120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EF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ru-RU" sz="900" b="1" kern="12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20% годовых на взносы  </a:t>
                      </a:r>
                      <a:r>
                        <a:rPr lang="en-US" sz="900" b="1" kern="12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| </a:t>
                      </a:r>
                      <a:r>
                        <a:rPr lang="ru-RU" sz="900" b="1" kern="12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+потенциал сверх</a:t>
                      </a:r>
                      <a:endParaRPr lang="ru-RU" sz="900" b="1" kern="120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E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706378"/>
                  </a:ext>
                </a:extLst>
              </a:tr>
              <a:tr h="1229301">
                <a:tc>
                  <a:txBody>
                    <a:bodyPr/>
                    <a:lstStyle/>
                    <a:p>
                      <a:pPr lvl="0" algn="l"/>
                      <a:r>
                        <a:rPr lang="ru-RU" sz="9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Механизм гарантии</a:t>
                      </a:r>
                      <a:endParaRPr lang="ru-RU" sz="900" b="1" i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Значение пенсии равно максимуму из двух величин:</a:t>
                      </a:r>
                    </a:p>
                    <a:p>
                      <a:pPr lvl="0" algn="l"/>
                      <a:endParaRPr lang="ru-RU" sz="500" kern="120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171450" lvl="0" indent="-171450" algn="l">
                        <a:buFontTx/>
                        <a:buChar char="-"/>
                      </a:pPr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пенсия  рассчитывается исходя из фактического остатка</a:t>
                      </a:r>
                      <a:b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на счете Участника;</a:t>
                      </a:r>
                      <a:endParaRPr lang="en-US" sz="900" kern="1200" baseline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171450" lvl="0" indent="-171450" algn="l">
                        <a:buFontTx/>
                        <a:buChar char="-"/>
                      </a:pPr>
                      <a:endParaRPr lang="ru-RU" sz="500" kern="1200" baseline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0" lvl="0" indent="0" algn="l">
                        <a:buFontTx/>
                        <a:buNone/>
                      </a:pPr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r>
                        <a:rPr lang="en-US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 </a:t>
                      </a:r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за</a:t>
                      </a: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пределами гарантирования (если период накопления дольше периода гарантирования) – по фактической доходности стратегия – Базовая</a:t>
                      </a:r>
                      <a:endParaRPr lang="ru-RU" sz="900" kern="1200" baseline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Значение пенсии равно максимуму из двух величин:</a:t>
                      </a:r>
                    </a:p>
                    <a:p>
                      <a:pPr lvl="0" algn="l"/>
                      <a:endParaRPr lang="ru-RU" sz="500" kern="120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171450" lvl="0" indent="-171450" algn="l">
                        <a:buFontTx/>
                        <a:buChar char="-"/>
                      </a:pPr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пенсия  рассчитывается исходя из фактического остатка</a:t>
                      </a: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на счете Участника;</a:t>
                      </a:r>
                    </a:p>
                    <a:p>
                      <a:pPr marL="171450" lvl="0" indent="-171450" algn="l">
                        <a:buFontTx/>
                        <a:buChar char="-"/>
                      </a:pPr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пенсия  рассчитывается исходя из гарантированной доходности инвестирования взносов в период гарантирования</a:t>
                      </a:r>
                      <a:endParaRPr lang="ru-RU" sz="900" kern="120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661160"/>
                  </a:ext>
                </a:extLst>
              </a:tr>
              <a:tr h="650783">
                <a:tc>
                  <a:txBody>
                    <a:bodyPr/>
                    <a:lstStyle/>
                    <a:p>
                      <a:pPr lvl="0" algn="l"/>
                      <a:r>
                        <a:rPr lang="ru-RU" sz="9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Доп. особенности</a:t>
                      </a:r>
                      <a:endParaRPr lang="ru-RU" sz="900" b="1" i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Tx/>
                        <a:buChar char="-"/>
                      </a:pP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Коэффициент первой выплаты – до 50% от накопленной суммы</a:t>
                      </a:r>
                    </a:p>
                    <a:p>
                      <a:pPr marL="171450" lvl="0" indent="-171450" algn="l">
                        <a:buFontTx/>
                        <a:buChar char="-"/>
                      </a:pP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Возможность получить выкупную сумму по окончанию периода гарантирования с учетом механизма гарантии</a:t>
                      </a:r>
                      <a:endParaRPr lang="ru-RU" sz="900" kern="1200" baseline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FontTx/>
                        <a:buNone/>
                      </a:pPr>
                      <a:r>
                        <a:rPr lang="ru-RU" sz="900" b="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Коэффициент первой выплаты - </a:t>
                      </a:r>
                      <a:r>
                        <a:rPr lang="ru-RU" sz="900" b="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до 50% от накопленной суммы</a:t>
                      </a:r>
                      <a:endParaRPr lang="ru-RU" sz="900" b="0" kern="120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561550"/>
                  </a:ext>
                </a:extLst>
              </a:tr>
            </a:tbl>
          </a:graphicData>
        </a:graphic>
      </p:graphicFrame>
      <p:sp>
        <p:nvSpPr>
          <p:cNvPr id="7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3937" y="1101812"/>
            <a:ext cx="6543849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idx="12" hasCustomPrompt="1"/>
          </p:nvPr>
        </p:nvSpPr>
        <p:spPr>
          <a:xfrm>
            <a:off x="413937" y="570394"/>
            <a:ext cx="6543849" cy="510946"/>
          </a:xfrm>
          <a:prstGeom prst="rect">
            <a:avLst/>
          </a:prstGeom>
        </p:spPr>
        <p:txBody>
          <a:bodyPr lIns="0"/>
          <a:lstStyle>
            <a:lvl1pPr>
              <a:lnSpc>
                <a:spcPts val="2600"/>
              </a:lnSpc>
              <a:buFontTx/>
              <a:buNone/>
              <a:defRPr lang="ru-RU" sz="3200" b="1" dirty="0" smtClean="0">
                <a:solidFill>
                  <a:srgbClr val="587DC7"/>
                </a:solidFill>
              </a:defRPr>
            </a:lvl1pPr>
          </a:lstStyle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621993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pos="597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Диаграмма 6"/>
          <p:cNvGraphicFramePr/>
          <p:nvPr userDrawn="1">
            <p:extLst>
              <p:ext uri="{D42A27DB-BD31-4B8C-83A1-F6EECF244321}">
                <p14:modId xmlns:p14="http://schemas.microsoft.com/office/powerpoint/2010/main" val="2033008466"/>
              </p:ext>
            </p:extLst>
          </p:nvPr>
        </p:nvGraphicFramePr>
        <p:xfrm>
          <a:off x="796947" y="1587279"/>
          <a:ext cx="4134576" cy="3976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Диаграмма 7"/>
          <p:cNvGraphicFramePr/>
          <p:nvPr userDrawn="1">
            <p:extLst>
              <p:ext uri="{D42A27DB-BD31-4B8C-83A1-F6EECF244321}">
                <p14:modId xmlns:p14="http://schemas.microsoft.com/office/powerpoint/2010/main" val="2032281553"/>
              </p:ext>
            </p:extLst>
          </p:nvPr>
        </p:nvGraphicFramePr>
        <p:xfrm>
          <a:off x="5223359" y="2108931"/>
          <a:ext cx="4263443" cy="33998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23" name="Прямоугольник 22"/>
          <p:cNvSpPr/>
          <p:nvPr userDrawn="1"/>
        </p:nvSpPr>
        <p:spPr>
          <a:xfrm rot="18900000" flipH="1">
            <a:off x="5044667" y="2421461"/>
            <a:ext cx="84050" cy="103446"/>
          </a:xfrm>
          <a:prstGeom prst="rect">
            <a:avLst/>
          </a:prstGeom>
          <a:solidFill>
            <a:srgbClr val="EA8848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24" name="Прямоугольник 23"/>
          <p:cNvSpPr/>
          <p:nvPr userDrawn="1"/>
        </p:nvSpPr>
        <p:spPr>
          <a:xfrm rot="18900000" flipH="1">
            <a:off x="814354" y="2421461"/>
            <a:ext cx="84050" cy="103446"/>
          </a:xfrm>
          <a:prstGeom prst="rect">
            <a:avLst/>
          </a:prstGeom>
          <a:solidFill>
            <a:srgbClr val="EA8848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3937" y="1101812"/>
            <a:ext cx="6543849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idx="12" hasCustomPrompt="1"/>
          </p:nvPr>
        </p:nvSpPr>
        <p:spPr>
          <a:xfrm>
            <a:off x="413937" y="570394"/>
            <a:ext cx="6543849" cy="510946"/>
          </a:xfrm>
          <a:prstGeom prst="rect">
            <a:avLst/>
          </a:prstGeom>
        </p:spPr>
        <p:txBody>
          <a:bodyPr lIns="0"/>
          <a:lstStyle>
            <a:lvl1pPr>
              <a:lnSpc>
                <a:spcPts val="2600"/>
              </a:lnSpc>
              <a:buFontTx/>
              <a:buNone/>
              <a:defRPr lang="ru-RU" sz="3200" b="1" dirty="0" smtClean="0">
                <a:solidFill>
                  <a:srgbClr val="587DC7"/>
                </a:solidFill>
              </a:defRPr>
            </a:lvl1pPr>
          </a:lstStyle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23898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  <p15:guide id="6" pos="5976" userDrawn="1">
          <p15:clr>
            <a:srgbClr val="FBAE40"/>
          </p15:clr>
        </p15:guide>
        <p15:guide id="7" pos="264" userDrawn="1">
          <p15:clr>
            <a:srgbClr val="FBAE40"/>
          </p15:clr>
        </p15:guide>
        <p15:guide id="8" orient="horz" pos="3294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/>
          <p:cNvGrpSpPr/>
          <p:nvPr userDrawn="1"/>
        </p:nvGrpSpPr>
        <p:grpSpPr>
          <a:xfrm>
            <a:off x="3843268" y="4502277"/>
            <a:ext cx="6449621" cy="3785994"/>
            <a:chOff x="4730176" y="4502277"/>
            <a:chExt cx="7937995" cy="3785994"/>
          </a:xfrm>
        </p:grpSpPr>
        <p:sp>
          <p:nvSpPr>
            <p:cNvPr id="8" name="Прямоугольный треугольник 7"/>
            <p:cNvSpPr/>
            <p:nvPr userDrawn="1"/>
          </p:nvSpPr>
          <p:spPr>
            <a:xfrm rot="8100000">
              <a:off x="4730176" y="5427730"/>
              <a:ext cx="2860541" cy="2860541"/>
            </a:xfrm>
            <a:prstGeom prst="rtTriangle">
              <a:avLst/>
            </a:prstGeom>
            <a:solidFill>
              <a:srgbClr val="CADEF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/>
            </a:p>
          </p:txBody>
        </p:sp>
        <p:sp>
          <p:nvSpPr>
            <p:cNvPr id="11" name="Полилиния 10"/>
            <p:cNvSpPr/>
            <p:nvPr userDrawn="1"/>
          </p:nvSpPr>
          <p:spPr>
            <a:xfrm rot="8100000">
              <a:off x="7531464" y="4502277"/>
              <a:ext cx="5136707" cy="3684764"/>
            </a:xfrm>
            <a:custGeom>
              <a:avLst/>
              <a:gdLst>
                <a:gd name="connsiteX0" fmla="*/ 0 w 5136707"/>
                <a:gd name="connsiteY0" fmla="*/ 3684764 h 3684764"/>
                <a:gd name="connsiteX1" fmla="*/ 0 w 5136707"/>
                <a:gd name="connsiteY1" fmla="*/ 1451944 h 3684764"/>
                <a:gd name="connsiteX2" fmla="*/ 1451943 w 5136707"/>
                <a:gd name="connsiteY2" fmla="*/ 0 h 3684764"/>
                <a:gd name="connsiteX3" fmla="*/ 5136707 w 5136707"/>
                <a:gd name="connsiteY3" fmla="*/ 3684764 h 368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6707" h="3684764">
                  <a:moveTo>
                    <a:pt x="0" y="3684764"/>
                  </a:moveTo>
                  <a:lnTo>
                    <a:pt x="0" y="1451944"/>
                  </a:lnTo>
                  <a:lnTo>
                    <a:pt x="1451943" y="0"/>
                  </a:lnTo>
                  <a:lnTo>
                    <a:pt x="5136707" y="368476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/>
            </a:p>
          </p:txBody>
        </p:sp>
      </p:grp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25026" y="1541716"/>
            <a:ext cx="4674681" cy="306401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2"/>
          <p:cNvSpPr>
            <a:spLocks noGrp="1"/>
          </p:cNvSpPr>
          <p:nvPr>
            <p:ph type="body" idx="12"/>
          </p:nvPr>
        </p:nvSpPr>
        <p:spPr>
          <a:xfrm>
            <a:off x="413937" y="566416"/>
            <a:ext cx="4721852" cy="510946"/>
          </a:xfrm>
          <a:prstGeom prst="rect">
            <a:avLst/>
          </a:prstGeom>
        </p:spPr>
        <p:txBody>
          <a:bodyPr lIns="0"/>
          <a:lstStyle>
            <a:lvl1pPr>
              <a:lnSpc>
                <a:spcPts val="2600"/>
              </a:lnSpc>
              <a:buFontTx/>
              <a:buNone/>
              <a:defRPr lang="ru-RU" sz="3200" b="1" dirty="0" smtClean="0">
                <a:solidFill>
                  <a:srgbClr val="587DC7"/>
                </a:solidFill>
              </a:defRPr>
            </a:lvl1pPr>
          </a:lstStyle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Образец </a:t>
            </a:r>
          </a:p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25849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  <p15:guide id="6" pos="5976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>
          <a:xfrm>
            <a:off x="9269186" y="6305551"/>
            <a:ext cx="490288" cy="365125"/>
          </a:xfrm>
        </p:spPr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329161" y="1074861"/>
            <a:ext cx="2014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Шрифт</a:t>
            </a:r>
            <a:r>
              <a:rPr lang="en-US" sz="1600" dirty="0"/>
              <a:t> -</a:t>
            </a:r>
            <a:r>
              <a:rPr lang="ru-RU" sz="1600" dirty="0"/>
              <a:t> </a:t>
            </a:r>
            <a:r>
              <a:rPr lang="en-US" sz="1600" dirty="0"/>
              <a:t>Verdana</a:t>
            </a:r>
            <a:endParaRPr lang="ru-RU" sz="16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29160" y="1691246"/>
            <a:ext cx="17732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Основной</a:t>
            </a:r>
            <a:r>
              <a:rPr lang="ru-RU" sz="1600" baseline="0" dirty="0"/>
              <a:t> цвет</a:t>
            </a:r>
            <a:endParaRPr lang="ru-RU" sz="1600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22072" y="2800990"/>
            <a:ext cx="1186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dirty="0">
                <a:solidFill>
                  <a:schemeClr val="bg1"/>
                </a:solidFill>
              </a:rPr>
              <a:t>Голубой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981023" y="3832410"/>
            <a:ext cx="1494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RGB </a:t>
            </a:r>
            <a:r>
              <a:rPr lang="ru-RU" sz="1200" dirty="0"/>
              <a:t>88</a:t>
            </a:r>
            <a:r>
              <a:rPr lang="en-US" sz="1200" dirty="0"/>
              <a:t>/</a:t>
            </a:r>
            <a:r>
              <a:rPr lang="ru-RU" sz="1200" dirty="0"/>
              <a:t>125</a:t>
            </a:r>
            <a:r>
              <a:rPr lang="en-US" sz="1200" dirty="0"/>
              <a:t>/</a:t>
            </a:r>
            <a:r>
              <a:rPr lang="ru-RU" sz="1200" dirty="0"/>
              <a:t>199</a:t>
            </a:r>
          </a:p>
        </p:txBody>
      </p:sp>
      <p:sp>
        <p:nvSpPr>
          <p:cNvPr id="23" name="TextBox 22"/>
          <p:cNvSpPr txBox="1"/>
          <p:nvPr userDrawn="1"/>
        </p:nvSpPr>
        <p:spPr>
          <a:xfrm>
            <a:off x="329160" y="458476"/>
            <a:ext cx="44294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Придерживайтесь</a:t>
            </a:r>
            <a:r>
              <a:rPr lang="ru-RU" sz="1600" baseline="0" dirty="0"/>
              <a:t> полей </a:t>
            </a:r>
            <a:r>
              <a:rPr lang="ru-RU" sz="1050" baseline="0" dirty="0"/>
              <a:t>(отступ от края 15мм)</a:t>
            </a:r>
            <a:endParaRPr lang="ru-RU" sz="1050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6860942" y="1699951"/>
            <a:ext cx="22092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Основные фигуры</a:t>
            </a:r>
            <a:r>
              <a:rPr lang="ru-RU" sz="1600" baseline="0" dirty="0"/>
              <a:t> </a:t>
            </a:r>
            <a:endParaRPr lang="ru-RU" sz="1600" dirty="0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065700" y="5160044"/>
            <a:ext cx="442232" cy="54428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6" name="Прямоугольник 25"/>
          <p:cNvSpPr/>
          <p:nvPr userDrawn="1"/>
        </p:nvSpPr>
        <p:spPr>
          <a:xfrm rot="2700000">
            <a:off x="7923083" y="2528403"/>
            <a:ext cx="544286" cy="4422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7" name="Прямоугольник 26"/>
          <p:cNvSpPr/>
          <p:nvPr userDrawn="1"/>
        </p:nvSpPr>
        <p:spPr>
          <a:xfrm rot="2700000">
            <a:off x="7049831" y="3730966"/>
            <a:ext cx="544286" cy="7568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9" name="Прямоугольник 28"/>
          <p:cNvSpPr/>
          <p:nvPr userDrawn="1"/>
        </p:nvSpPr>
        <p:spPr>
          <a:xfrm rot="2700000">
            <a:off x="6947656" y="2528404"/>
            <a:ext cx="544286" cy="442232"/>
          </a:xfrm>
          <a:prstGeom prst="rect">
            <a:avLst/>
          </a:prstGeom>
          <a:noFill/>
          <a:ln w="28575">
            <a:solidFill>
              <a:srgbClr val="587DC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0" name="Пятиугольник 29"/>
          <p:cNvSpPr/>
          <p:nvPr userDrawn="1"/>
        </p:nvSpPr>
        <p:spPr>
          <a:xfrm>
            <a:off x="6956895" y="5025090"/>
            <a:ext cx="801559" cy="679241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3400058" y="1691246"/>
            <a:ext cx="26677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Дополнительные</a:t>
            </a:r>
            <a:r>
              <a:rPr lang="ru-RU" sz="1600" baseline="0" dirty="0"/>
              <a:t> цвета</a:t>
            </a:r>
            <a:endParaRPr lang="ru-RU" sz="1600" dirty="0"/>
          </a:p>
        </p:txBody>
      </p:sp>
      <p:sp>
        <p:nvSpPr>
          <p:cNvPr id="32" name="Прямоугольник 31"/>
          <p:cNvSpPr/>
          <p:nvPr userDrawn="1"/>
        </p:nvSpPr>
        <p:spPr>
          <a:xfrm>
            <a:off x="1040327" y="2364651"/>
            <a:ext cx="1149411" cy="14146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/>
              <a:t>Синий</a:t>
            </a:r>
          </a:p>
        </p:txBody>
      </p:sp>
      <p:sp>
        <p:nvSpPr>
          <p:cNvPr id="37" name="Прямоугольник 36"/>
          <p:cNvSpPr/>
          <p:nvPr userDrawn="1"/>
        </p:nvSpPr>
        <p:spPr>
          <a:xfrm>
            <a:off x="1037590" y="4407846"/>
            <a:ext cx="355925" cy="438061"/>
          </a:xfrm>
          <a:prstGeom prst="rect">
            <a:avLst/>
          </a:prstGeom>
          <a:solidFill>
            <a:srgbClr val="7DA4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 dirty="0"/>
          </a:p>
        </p:txBody>
      </p:sp>
      <p:sp>
        <p:nvSpPr>
          <p:cNvPr id="38" name="Прямоугольник 37"/>
          <p:cNvSpPr/>
          <p:nvPr userDrawn="1"/>
        </p:nvSpPr>
        <p:spPr>
          <a:xfrm>
            <a:off x="1826620" y="4407845"/>
            <a:ext cx="355925" cy="438061"/>
          </a:xfrm>
          <a:prstGeom prst="rect">
            <a:avLst/>
          </a:prstGeom>
          <a:solidFill>
            <a:srgbClr val="37589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pic>
        <p:nvPicPr>
          <p:cNvPr id="41" name="Рисунок 4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5403" y="2364650"/>
            <a:ext cx="2428635" cy="3625598"/>
          </a:xfrm>
          <a:custGeom>
            <a:avLst/>
            <a:gdLst>
              <a:gd name="connsiteX0" fmla="*/ 0 w 2989089"/>
              <a:gd name="connsiteY0" fmla="*/ 0 h 3625598"/>
              <a:gd name="connsiteX1" fmla="*/ 2989089 w 2989089"/>
              <a:gd name="connsiteY1" fmla="*/ 0 h 3625598"/>
              <a:gd name="connsiteX2" fmla="*/ 2989089 w 2989089"/>
              <a:gd name="connsiteY2" fmla="*/ 3625598 h 3625598"/>
              <a:gd name="connsiteX3" fmla="*/ 0 w 2989089"/>
              <a:gd name="connsiteY3" fmla="*/ 3625598 h 3625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9089" h="3625598">
                <a:moveTo>
                  <a:pt x="0" y="0"/>
                </a:moveTo>
                <a:lnTo>
                  <a:pt x="2989089" y="0"/>
                </a:lnTo>
                <a:lnTo>
                  <a:pt x="2989089" y="3625598"/>
                </a:lnTo>
                <a:lnTo>
                  <a:pt x="0" y="3625598"/>
                </a:lnTo>
                <a:close/>
              </a:path>
            </a:pathLst>
          </a:custGeom>
        </p:spPr>
      </p:pic>
      <p:sp>
        <p:nvSpPr>
          <p:cNvPr id="42" name="TextBox 41"/>
          <p:cNvSpPr txBox="1"/>
          <p:nvPr userDrawn="1"/>
        </p:nvSpPr>
        <p:spPr>
          <a:xfrm>
            <a:off x="741617" y="4875213"/>
            <a:ext cx="1128835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800" dirty="0"/>
              <a:t>RGB</a:t>
            </a:r>
            <a:r>
              <a:rPr lang="ru-RU" sz="800" baseline="0" dirty="0"/>
              <a:t> </a:t>
            </a:r>
            <a:r>
              <a:rPr lang="ru-RU" sz="800" dirty="0"/>
              <a:t>125</a:t>
            </a:r>
            <a:r>
              <a:rPr lang="en-US" sz="800" dirty="0"/>
              <a:t>/</a:t>
            </a:r>
            <a:r>
              <a:rPr lang="ru-RU" sz="800" dirty="0"/>
              <a:t>164</a:t>
            </a:r>
            <a:r>
              <a:rPr lang="en-US" sz="800" dirty="0"/>
              <a:t>/</a:t>
            </a:r>
            <a:r>
              <a:rPr lang="ru-RU" sz="800" dirty="0"/>
              <a:t>245</a:t>
            </a:r>
          </a:p>
        </p:txBody>
      </p:sp>
      <p:sp>
        <p:nvSpPr>
          <p:cNvPr id="44" name="TextBox 43"/>
          <p:cNvSpPr txBox="1"/>
          <p:nvPr userDrawn="1"/>
        </p:nvSpPr>
        <p:spPr>
          <a:xfrm>
            <a:off x="1601492" y="4875213"/>
            <a:ext cx="997389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800" dirty="0"/>
              <a:t>RGB</a:t>
            </a:r>
            <a:r>
              <a:rPr lang="ru-RU" sz="800" baseline="0" dirty="0"/>
              <a:t> </a:t>
            </a:r>
            <a:r>
              <a:rPr lang="ru-RU" sz="800" dirty="0"/>
              <a:t>55</a:t>
            </a:r>
            <a:r>
              <a:rPr lang="en-US" sz="800" dirty="0"/>
              <a:t>/</a:t>
            </a:r>
            <a:r>
              <a:rPr lang="ru-RU" sz="800" dirty="0"/>
              <a:t>88</a:t>
            </a:r>
            <a:r>
              <a:rPr lang="en-US" sz="800" dirty="0"/>
              <a:t>/</a:t>
            </a:r>
            <a:r>
              <a:rPr lang="ru-RU" sz="800" dirty="0"/>
              <a:t>156</a:t>
            </a:r>
          </a:p>
        </p:txBody>
      </p:sp>
      <p:sp>
        <p:nvSpPr>
          <p:cNvPr id="45" name="Прямоугольник 44"/>
          <p:cNvSpPr/>
          <p:nvPr userDrawn="1"/>
        </p:nvSpPr>
        <p:spPr>
          <a:xfrm>
            <a:off x="1413995" y="5346933"/>
            <a:ext cx="355925" cy="438061"/>
          </a:xfrm>
          <a:prstGeom prst="rect">
            <a:avLst/>
          </a:prstGeom>
          <a:solidFill>
            <a:srgbClr val="CADEF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 dirty="0"/>
          </a:p>
        </p:txBody>
      </p:sp>
      <p:sp>
        <p:nvSpPr>
          <p:cNvPr id="47" name="TextBox 46"/>
          <p:cNvSpPr txBox="1"/>
          <p:nvPr userDrawn="1"/>
        </p:nvSpPr>
        <p:spPr>
          <a:xfrm>
            <a:off x="1133367" y="5814300"/>
            <a:ext cx="1128835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800" dirty="0"/>
              <a:t>RGB</a:t>
            </a:r>
            <a:r>
              <a:rPr lang="ru-RU" sz="800" baseline="0" dirty="0"/>
              <a:t> </a:t>
            </a:r>
            <a:r>
              <a:rPr lang="ru-RU" sz="800" dirty="0"/>
              <a:t>202</a:t>
            </a:r>
            <a:r>
              <a:rPr lang="en-US" sz="800" dirty="0"/>
              <a:t>/</a:t>
            </a:r>
            <a:r>
              <a:rPr lang="ru-RU" sz="800" dirty="0"/>
              <a:t>222</a:t>
            </a:r>
            <a:r>
              <a:rPr lang="en-US" sz="800" dirty="0"/>
              <a:t>/</a:t>
            </a:r>
            <a:r>
              <a:rPr lang="ru-RU" sz="800" dirty="0"/>
              <a:t>252</a:t>
            </a:r>
          </a:p>
        </p:txBody>
      </p:sp>
      <p:sp>
        <p:nvSpPr>
          <p:cNvPr id="33" name="Прямоугольный треугольник 32"/>
          <p:cNvSpPr/>
          <p:nvPr userDrawn="1"/>
        </p:nvSpPr>
        <p:spPr>
          <a:xfrm rot="13500000">
            <a:off x="7874383" y="3848725"/>
            <a:ext cx="641684" cy="521368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3454411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  <p15:guide id="6" pos="5976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574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78" r:id="rId13"/>
    <p:sldLayoutId id="2147483683" r:id="rId14"/>
    <p:sldLayoutId id="2147483685" r:id="rId15"/>
    <p:sldLayoutId id="2147483682" r:id="rId16"/>
    <p:sldLayoutId id="2147483661" r:id="rId17"/>
    <p:sldLayoutId id="2147483677" r:id="rId18"/>
    <p:sldLayoutId id="2147483662" r:id="rId19"/>
    <p:sldLayoutId id="2147483667" r:id="rId20"/>
    <p:sldLayoutId id="2147483681" r:id="rId21"/>
    <p:sldLayoutId id="2147483684" r:id="rId22"/>
    <p:sldLayoutId id="2147483674" r:id="rId23"/>
    <p:sldLayoutId id="2147483680" r:id="rId24"/>
    <p:sldLayoutId id="2147483675" r:id="rId25"/>
    <p:sldLayoutId id="2147483651" r:id="rId26"/>
    <p:sldLayoutId id="2147483668" r:id="rId27"/>
    <p:sldLayoutId id="2147483652" r:id="rId28"/>
    <p:sldLayoutId id="2147483665" r:id="rId29"/>
    <p:sldLayoutId id="2147483669" r:id="rId30"/>
    <p:sldLayoutId id="2147483676" r:id="rId31"/>
    <p:sldLayoutId id="2147483663" r:id="rId32"/>
    <p:sldLayoutId id="2147483673" r:id="rId33"/>
    <p:sldLayoutId id="2147483666" r:id="rId34"/>
    <p:sldLayoutId id="2147483654" r:id="rId35"/>
    <p:sldLayoutId id="2147483660" r:id="rId36"/>
    <p:sldLayoutId id="2147483656" r:id="rId37"/>
    <p:sldLayoutId id="2147483657" r:id="rId38"/>
    <p:sldLayoutId id="2147483671" r:id="rId3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Upper Background"/>
          <p:cNvGrpSpPr/>
          <p:nvPr/>
        </p:nvGrpSpPr>
        <p:grpSpPr>
          <a:xfrm>
            <a:off x="419102" y="751953"/>
            <a:ext cx="9129546" cy="2700000"/>
            <a:chOff x="419102" y="794283"/>
            <a:chExt cx="9129546" cy="2700000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419102" y="794283"/>
              <a:ext cx="9129546" cy="2700000"/>
            </a:xfrm>
            <a:prstGeom prst="roundRect">
              <a:avLst>
                <a:gd name="adj" fmla="val 4052"/>
              </a:avLst>
            </a:prstGeom>
            <a:solidFill>
              <a:srgbClr val="F7F7F7"/>
            </a:solidFill>
            <a:ln>
              <a:noFill/>
            </a:ln>
            <a:effectLst>
              <a:outerShdw blurRad="50800" dist="50800" dir="3600000" algn="ctr" rotWithShape="0">
                <a:srgbClr val="E5E5E5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392" name="Прямая соединительная линия 391"/>
            <p:cNvCxnSpPr/>
            <p:nvPr/>
          </p:nvCxnSpPr>
          <p:spPr>
            <a:xfrm flipV="1">
              <a:off x="5106253" y="794283"/>
              <a:ext cx="0" cy="2664000"/>
            </a:xfrm>
            <a:prstGeom prst="line">
              <a:avLst/>
            </a:prstGeom>
            <a:ln w="9525">
              <a:solidFill>
                <a:srgbClr val="1E14A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5" name="Page Number"/>
          <p:cNvSpPr>
            <a:spLocks noGrp="1"/>
          </p:cNvSpPr>
          <p:nvPr>
            <p:ph type="sldNum" sz="quarter" idx="10"/>
          </p:nvPr>
        </p:nvSpPr>
        <p:spPr>
          <a:xfrm>
            <a:off x="9442449" y="6356407"/>
            <a:ext cx="371021" cy="365125"/>
          </a:xfrm>
        </p:spPr>
        <p:txBody>
          <a:bodyPr/>
          <a:lstStyle/>
          <a:p>
            <a:fld id="{1497CB32-89BC-4402-8C7C-A106FBDE40C6}" type="slidenum">
              <a:rPr lang="ru-RU" smtClean="0"/>
              <a:pPr/>
              <a:t>1</a:t>
            </a:fld>
            <a:endParaRPr lang="ru-RU" dirty="0"/>
          </a:p>
        </p:txBody>
      </p:sp>
      <p:grpSp>
        <p:nvGrpSpPr>
          <p:cNvPr id="143" name="Lower Background"/>
          <p:cNvGrpSpPr/>
          <p:nvPr/>
        </p:nvGrpSpPr>
        <p:grpSpPr>
          <a:xfrm>
            <a:off x="419102" y="3634853"/>
            <a:ext cx="9129546" cy="2700000"/>
            <a:chOff x="419102" y="794283"/>
            <a:chExt cx="9129546" cy="2700000"/>
          </a:xfrm>
        </p:grpSpPr>
        <p:sp>
          <p:nvSpPr>
            <p:cNvPr id="144" name="Скругленный прямоугольник 143"/>
            <p:cNvSpPr/>
            <p:nvPr/>
          </p:nvSpPr>
          <p:spPr>
            <a:xfrm>
              <a:off x="419102" y="794283"/>
              <a:ext cx="9129546" cy="2700000"/>
            </a:xfrm>
            <a:prstGeom prst="roundRect">
              <a:avLst>
                <a:gd name="adj" fmla="val 4052"/>
              </a:avLst>
            </a:prstGeom>
            <a:solidFill>
              <a:srgbClr val="F7F7F7"/>
            </a:solidFill>
            <a:ln>
              <a:noFill/>
            </a:ln>
            <a:effectLst>
              <a:outerShdw blurRad="50800" dist="50800" dir="3600000" algn="ctr" rotWithShape="0">
                <a:srgbClr val="E5E5E5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45" name="Прямая соединительная линия 144"/>
            <p:cNvCxnSpPr/>
            <p:nvPr/>
          </p:nvCxnSpPr>
          <p:spPr>
            <a:xfrm flipV="1">
              <a:off x="5106249" y="794283"/>
              <a:ext cx="0" cy="2664000"/>
            </a:xfrm>
            <a:prstGeom prst="line">
              <a:avLst/>
            </a:prstGeom>
            <a:ln w="9525">
              <a:solidFill>
                <a:srgbClr val="1E14A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RD Group 5">
            <a:extLst>
              <a:ext uri="{FF2B5EF4-FFF2-40B4-BE49-F238E27FC236}">
                <a16:creationId xmlns:a16="http://schemas.microsoft.com/office/drawing/2014/main" id="{B9DCEECE-4E73-4044-ABFE-B1FD2CDEB87E}"/>
              </a:ext>
            </a:extLst>
          </p:cNvPr>
          <p:cNvGrpSpPr/>
          <p:nvPr/>
        </p:nvGrpSpPr>
        <p:grpSpPr>
          <a:xfrm>
            <a:off x="5108947" y="5798089"/>
            <a:ext cx="4333502" cy="324003"/>
            <a:chOff x="5108947" y="5798089"/>
            <a:chExt cx="4333502" cy="324003"/>
          </a:xfrm>
        </p:grpSpPr>
        <p:grpSp>
          <p:nvGrpSpPr>
            <p:cNvPr id="187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5798089"/>
              <a:ext cx="2411995" cy="324003"/>
              <a:chOff x="7382830" y="9015221"/>
              <a:chExt cx="4291755" cy="626710"/>
            </a:xfrm>
          </p:grpSpPr>
          <p:sp>
            <p:nvSpPr>
              <p:cNvPr id="188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89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486495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246.2 / 8.5%</a:t>
                </a:r>
              </a:p>
            </p:txBody>
          </p:sp>
        </p:grpSp>
        <p:sp>
          <p:nvSpPr>
            <p:cNvPr id="190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579808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5. Группа ВТБ</a:t>
              </a:r>
            </a:p>
          </p:txBody>
        </p:sp>
      </p:grpSp>
      <p:grpSp>
        <p:nvGrpSpPr>
          <p:cNvPr id="23" name="RD Group 4">
            <a:extLst>
              <a:ext uri="{FF2B5EF4-FFF2-40B4-BE49-F238E27FC236}">
                <a16:creationId xmlns:a16="http://schemas.microsoft.com/office/drawing/2014/main" id="{9010C897-801D-4C83-B54F-E868039294C5}"/>
              </a:ext>
            </a:extLst>
          </p:cNvPr>
          <p:cNvGrpSpPr/>
          <p:nvPr/>
        </p:nvGrpSpPr>
        <p:grpSpPr>
          <a:xfrm>
            <a:off x="5108947" y="5407647"/>
            <a:ext cx="4333502" cy="324003"/>
            <a:chOff x="5108947" y="5407647"/>
            <a:chExt cx="4333502" cy="324003"/>
          </a:xfrm>
        </p:grpSpPr>
        <p:grpSp>
          <p:nvGrpSpPr>
            <p:cNvPr id="183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5407647"/>
              <a:ext cx="2411995" cy="324003"/>
              <a:chOff x="7382830" y="9015221"/>
              <a:chExt cx="4291755" cy="626710"/>
            </a:xfrm>
          </p:grpSpPr>
          <p:sp>
            <p:nvSpPr>
              <p:cNvPr id="184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E2F0D9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85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699556" cy="626704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320.0 / 11.1%</a:t>
                </a:r>
              </a:p>
            </p:txBody>
          </p:sp>
        </p:grpSp>
        <p:sp>
          <p:nvSpPr>
            <p:cNvPr id="186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5409671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1">
                  <a:latin typeface="Segoe UI"/>
                </a:rPr>
                <a:t>4. Группа Р-Р</a:t>
              </a:r>
            </a:p>
          </p:txBody>
        </p:sp>
      </p:grpSp>
      <p:grpSp>
        <p:nvGrpSpPr>
          <p:cNvPr id="21" name="RD Group 3">
            <a:extLst>
              <a:ext uri="{FF2B5EF4-FFF2-40B4-BE49-F238E27FC236}">
                <a16:creationId xmlns:a16="http://schemas.microsoft.com/office/drawing/2014/main" id="{0E9FCDB5-CFCB-44C5-8B5D-1A7C2CDD729D}"/>
              </a:ext>
            </a:extLst>
          </p:cNvPr>
          <p:cNvGrpSpPr/>
          <p:nvPr/>
        </p:nvGrpSpPr>
        <p:grpSpPr>
          <a:xfrm>
            <a:off x="5108947" y="5017207"/>
            <a:ext cx="4333502" cy="324003"/>
            <a:chOff x="5108947" y="5017207"/>
            <a:chExt cx="4333502" cy="324003"/>
          </a:xfrm>
        </p:grpSpPr>
        <p:grpSp>
          <p:nvGrpSpPr>
            <p:cNvPr id="175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5017207"/>
              <a:ext cx="2411995" cy="324003"/>
              <a:chOff x="7382830" y="9015221"/>
              <a:chExt cx="4291755" cy="626710"/>
            </a:xfrm>
          </p:grpSpPr>
          <p:sp>
            <p:nvSpPr>
              <p:cNvPr id="180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81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199431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494.2 / 17.2%</a:t>
                </a:r>
              </a:p>
            </p:txBody>
          </p:sp>
        </p:grpSp>
        <p:sp>
          <p:nvSpPr>
            <p:cNvPr id="182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5017208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3. Группа Сбер</a:t>
              </a:r>
            </a:p>
          </p:txBody>
        </p:sp>
      </p:grpSp>
      <p:grpSp>
        <p:nvGrpSpPr>
          <p:cNvPr id="20" name="RD Group 2">
            <a:extLst>
              <a:ext uri="{FF2B5EF4-FFF2-40B4-BE49-F238E27FC236}">
                <a16:creationId xmlns:a16="http://schemas.microsoft.com/office/drawing/2014/main" id="{0C318559-6859-4F06-9CDF-54908774C91D}"/>
              </a:ext>
            </a:extLst>
          </p:cNvPr>
          <p:cNvGrpSpPr/>
          <p:nvPr/>
        </p:nvGrpSpPr>
        <p:grpSpPr>
          <a:xfrm>
            <a:off x="5108947" y="4626767"/>
            <a:ext cx="4333502" cy="324003"/>
            <a:chOff x="5108947" y="4626767"/>
            <a:chExt cx="4333502" cy="324003"/>
          </a:xfrm>
        </p:grpSpPr>
        <p:grpSp>
          <p:nvGrpSpPr>
            <p:cNvPr id="171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4626767"/>
              <a:ext cx="2411995" cy="324003"/>
              <a:chOff x="7382830" y="9015221"/>
              <a:chExt cx="4291755" cy="626710"/>
            </a:xfrm>
          </p:grpSpPr>
          <p:sp>
            <p:nvSpPr>
              <p:cNvPr id="172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73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625553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644.7 / 22.4%</a:t>
                </a:r>
              </a:p>
            </p:txBody>
          </p:sp>
        </p:grpSp>
        <p:sp>
          <p:nvSpPr>
            <p:cNvPr id="174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464092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2. РЖД / ВЭБ</a:t>
              </a:r>
            </a:p>
          </p:txBody>
        </p:sp>
      </p:grpSp>
      <p:grpSp>
        <p:nvGrpSpPr>
          <p:cNvPr id="19" name="RD Group 1">
            <a:extLst>
              <a:ext uri="{FF2B5EF4-FFF2-40B4-BE49-F238E27FC236}">
                <a16:creationId xmlns:a16="http://schemas.microsoft.com/office/drawing/2014/main" id="{83FB48D4-9605-40E6-BEDA-3609B9AFFAEA}"/>
              </a:ext>
            </a:extLst>
          </p:cNvPr>
          <p:cNvGrpSpPr/>
          <p:nvPr/>
        </p:nvGrpSpPr>
        <p:grpSpPr>
          <a:xfrm>
            <a:off x="5108947" y="4236327"/>
            <a:ext cx="4333502" cy="324003"/>
            <a:chOff x="5108947" y="4236327"/>
            <a:chExt cx="4333502" cy="324003"/>
          </a:xfrm>
        </p:grpSpPr>
        <p:grpSp>
          <p:nvGrpSpPr>
            <p:cNvPr id="167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4236327"/>
              <a:ext cx="2411995" cy="324003"/>
              <a:chOff x="7382830" y="9015221"/>
              <a:chExt cx="4291755" cy="626710"/>
            </a:xfrm>
          </p:grpSpPr>
          <p:sp>
            <p:nvSpPr>
              <p:cNvPr id="168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69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936951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753.2 / 26.2%</a:t>
                </a:r>
              </a:p>
            </p:txBody>
          </p:sp>
        </p:grpSp>
        <p:sp>
          <p:nvSpPr>
            <p:cNvPr id="170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4236327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1. Группа Газфонд</a:t>
              </a:r>
            </a:p>
          </p:txBody>
        </p:sp>
      </p:grpSp>
      <p:graphicFrame>
        <p:nvGraphicFramePr>
          <p:cNvPr id="195" name="RD Indicato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91389"/>
              </p:ext>
            </p:extLst>
          </p:nvPr>
        </p:nvGraphicFramePr>
        <p:xfrm>
          <a:off x="5149062" y="3693574"/>
          <a:ext cx="4428436" cy="515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8436">
                  <a:extLst>
                    <a:ext uri="{9D8B030D-6E8A-4147-A177-3AD203B41FA5}">
                      <a16:colId xmlns:a16="http://schemas.microsoft.com/office/drawing/2014/main" val="3729817723"/>
                    </a:ext>
                  </a:extLst>
                </a:gridCol>
              </a:tblGrid>
              <a:tr h="262957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Segoe UI"/>
                        </a:rPr>
                        <a:t>4 место на пенсионном рынке – пенсионные резервы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278227"/>
                  </a:ext>
                </a:extLst>
              </a:tr>
              <a:tr h="241043">
                <a:tc>
                  <a:txBody>
                    <a:bodyPr/>
                    <a:lstStyle/>
                    <a:p>
                      <a:r>
                        <a:rPr sz="1050" i="1" b="0">
                          <a:latin typeface="Segoe UI"/>
                        </a:rPr>
                        <a:t>Активы в млрд рублей / доля рынка в %</a:t>
                      </a:r>
                    </a:p>
                  </a:txBody>
                  <a:tcPr marT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315448"/>
                  </a:ext>
                </a:extLst>
              </a:tr>
            </a:tbl>
          </a:graphicData>
        </a:graphic>
      </p:graphicFrame>
      <p:grpSp>
        <p:nvGrpSpPr>
          <p:cNvPr id="18" name="LD Group 5">
            <a:extLst>
              <a:ext uri="{FF2B5EF4-FFF2-40B4-BE49-F238E27FC236}">
                <a16:creationId xmlns:a16="http://schemas.microsoft.com/office/drawing/2014/main" id="{D1DD5E2F-F823-4109-B9A0-609F010461E1}"/>
              </a:ext>
            </a:extLst>
          </p:cNvPr>
          <p:cNvGrpSpPr/>
          <p:nvPr/>
        </p:nvGrpSpPr>
        <p:grpSpPr>
          <a:xfrm>
            <a:off x="421837" y="5798089"/>
            <a:ext cx="4450179" cy="324003"/>
            <a:chOff x="421837" y="5798089"/>
            <a:chExt cx="4450179" cy="324003"/>
          </a:xfrm>
        </p:grpSpPr>
        <p:grpSp>
          <p:nvGrpSpPr>
            <p:cNvPr id="162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5798089"/>
              <a:ext cx="2411995" cy="324003"/>
              <a:chOff x="7382830" y="9015221"/>
              <a:chExt cx="4291755" cy="626710"/>
            </a:xfrm>
          </p:grpSpPr>
          <p:sp>
            <p:nvSpPr>
              <p:cNvPr id="163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64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486495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35.7 / 1.0%</a:t>
                </a:r>
              </a:p>
            </p:txBody>
          </p:sp>
        </p:grpSp>
        <p:sp>
          <p:nvSpPr>
            <p:cNvPr id="165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579808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5. Зенит</a:t>
              </a:r>
            </a:p>
          </p:txBody>
        </p:sp>
      </p:grpSp>
      <p:grpSp>
        <p:nvGrpSpPr>
          <p:cNvPr id="17" name="LD Group 4">
            <a:extLst>
              <a:ext uri="{FF2B5EF4-FFF2-40B4-BE49-F238E27FC236}">
                <a16:creationId xmlns:a16="http://schemas.microsoft.com/office/drawing/2014/main" id="{E173C869-F040-4797-A8C4-9967E0522F48}"/>
              </a:ext>
            </a:extLst>
          </p:cNvPr>
          <p:cNvGrpSpPr/>
          <p:nvPr/>
        </p:nvGrpSpPr>
        <p:grpSpPr>
          <a:xfrm>
            <a:off x="421837" y="5407647"/>
            <a:ext cx="4450179" cy="324003"/>
            <a:chOff x="421837" y="5407647"/>
            <a:chExt cx="4450179" cy="324003"/>
          </a:xfrm>
        </p:grpSpPr>
        <p:grpSp>
          <p:nvGrpSpPr>
            <p:cNvPr id="158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5407647"/>
              <a:ext cx="2411995" cy="324003"/>
              <a:chOff x="7382830" y="9015221"/>
              <a:chExt cx="4291755" cy="626710"/>
            </a:xfrm>
          </p:grpSpPr>
          <p:sp>
            <p:nvSpPr>
              <p:cNvPr id="159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60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482011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704.9 / 19.6%</a:t>
                </a:r>
              </a:p>
            </p:txBody>
          </p:sp>
        </p:grpSp>
        <p:sp>
          <p:nvSpPr>
            <p:cNvPr id="161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5409671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4. Группа Газфонд</a:t>
              </a:r>
            </a:p>
          </p:txBody>
        </p:sp>
      </p:grpSp>
      <p:grpSp>
        <p:nvGrpSpPr>
          <p:cNvPr id="16" name="LD Group 3">
            <a:extLst>
              <a:ext uri="{FF2B5EF4-FFF2-40B4-BE49-F238E27FC236}">
                <a16:creationId xmlns:a16="http://schemas.microsoft.com/office/drawing/2014/main" id="{713FAD0C-BC7B-4FC1-A1C2-DC6B152195F5}"/>
              </a:ext>
            </a:extLst>
          </p:cNvPr>
          <p:cNvGrpSpPr/>
          <p:nvPr/>
        </p:nvGrpSpPr>
        <p:grpSpPr>
          <a:xfrm>
            <a:off x="421837" y="5017207"/>
            <a:ext cx="4450179" cy="324003"/>
            <a:chOff x="421837" y="5017207"/>
            <a:chExt cx="4450179" cy="324003"/>
          </a:xfrm>
        </p:grpSpPr>
        <p:grpSp>
          <p:nvGrpSpPr>
            <p:cNvPr id="154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5017207"/>
              <a:ext cx="2411995" cy="324003"/>
              <a:chOff x="7382830" y="9015221"/>
              <a:chExt cx="4291755" cy="626710"/>
            </a:xfrm>
          </p:grpSpPr>
          <p:sp>
            <p:nvSpPr>
              <p:cNvPr id="155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56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62116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798.6 / 22.2%</a:t>
                </a:r>
              </a:p>
            </p:txBody>
          </p:sp>
        </p:grpSp>
        <p:sp>
          <p:nvSpPr>
            <p:cNvPr id="157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5017208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3. Группа Сбер</a:t>
              </a:r>
            </a:p>
          </p:txBody>
        </p:sp>
      </p:grpSp>
      <p:grpSp>
        <p:nvGrpSpPr>
          <p:cNvPr id="15" name="LD Group 2">
            <a:extLst>
              <a:ext uri="{FF2B5EF4-FFF2-40B4-BE49-F238E27FC236}">
                <a16:creationId xmlns:a16="http://schemas.microsoft.com/office/drawing/2014/main" id="{E551A99E-19C4-4922-899F-32E6A55113A5}"/>
              </a:ext>
            </a:extLst>
          </p:cNvPr>
          <p:cNvGrpSpPr/>
          <p:nvPr/>
        </p:nvGrpSpPr>
        <p:grpSpPr>
          <a:xfrm>
            <a:off x="421837" y="4626767"/>
            <a:ext cx="4450179" cy="324003"/>
            <a:chOff x="421837" y="4626767"/>
            <a:chExt cx="4450179" cy="324003"/>
          </a:xfrm>
        </p:grpSpPr>
        <p:grpSp>
          <p:nvGrpSpPr>
            <p:cNvPr id="150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4626767"/>
              <a:ext cx="2411995" cy="324003"/>
              <a:chOff x="7382830" y="9015221"/>
              <a:chExt cx="4291755" cy="626710"/>
            </a:xfrm>
          </p:grpSpPr>
          <p:sp>
            <p:nvSpPr>
              <p:cNvPr id="151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E2F0D9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52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792440" cy="626704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913.6 / 25.4%</a:t>
                </a:r>
              </a:p>
            </p:txBody>
          </p:sp>
        </p:grpSp>
        <p:sp>
          <p:nvSpPr>
            <p:cNvPr id="153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464092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1">
                  <a:latin typeface="Segoe UI"/>
                </a:rPr>
                <a:t>2. Группа Р-Р</a:t>
              </a:r>
            </a:p>
          </p:txBody>
        </p:sp>
      </p:grpSp>
      <p:grpSp>
        <p:nvGrpSpPr>
          <p:cNvPr id="13" name="LD Group 1">
            <a:extLst>
              <a:ext uri="{FF2B5EF4-FFF2-40B4-BE49-F238E27FC236}">
                <a16:creationId xmlns:a16="http://schemas.microsoft.com/office/drawing/2014/main" id="{7FB6618F-2559-4CCB-875F-CCF2538E269F}"/>
              </a:ext>
            </a:extLst>
          </p:cNvPr>
          <p:cNvGrpSpPr/>
          <p:nvPr/>
        </p:nvGrpSpPr>
        <p:grpSpPr>
          <a:xfrm>
            <a:off x="421837" y="4236248"/>
            <a:ext cx="4450179" cy="324003"/>
            <a:chOff x="421837" y="4236248"/>
            <a:chExt cx="4450179" cy="324003"/>
          </a:xfrm>
        </p:grpSpPr>
        <p:grpSp>
          <p:nvGrpSpPr>
            <p:cNvPr id="146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4236248"/>
              <a:ext cx="2411995" cy="324003"/>
              <a:chOff x="7382830" y="9015221"/>
              <a:chExt cx="4291755" cy="626710"/>
            </a:xfrm>
          </p:grpSpPr>
          <p:sp>
            <p:nvSpPr>
              <p:cNvPr id="147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48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936951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1 010.1 / 28.1%</a:t>
                </a:r>
              </a:p>
            </p:txBody>
          </p:sp>
        </p:grpSp>
        <p:sp>
          <p:nvSpPr>
            <p:cNvPr id="149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4236248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1. Группа ВТБ</a:t>
              </a:r>
            </a:p>
          </p:txBody>
        </p:sp>
      </p:grpSp>
      <p:graphicFrame>
        <p:nvGraphicFramePr>
          <p:cNvPr id="166" name="LD Indicato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02056"/>
              </p:ext>
            </p:extLst>
          </p:nvPr>
        </p:nvGraphicFramePr>
        <p:xfrm>
          <a:off x="419101" y="3693574"/>
          <a:ext cx="4729961" cy="49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9961">
                  <a:extLst>
                    <a:ext uri="{9D8B030D-6E8A-4147-A177-3AD203B41FA5}">
                      <a16:colId xmlns:a16="http://schemas.microsoft.com/office/drawing/2014/main" val="3729817723"/>
                    </a:ext>
                  </a:extLst>
                </a:gridCol>
              </a:tblGrid>
              <a:tr h="262957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Segoe UI"/>
                        </a:rPr>
                        <a:t>2 место на пенсионном рынке – пенсионные накопления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27822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sz="1050" i="1" b="0">
                          <a:latin typeface="Segoe UI"/>
                        </a:rPr>
                        <a:t>Активы в млрд рублей / доля рынка в %</a:t>
                      </a:r>
                    </a:p>
                  </a:txBody>
                  <a:tcPr marR="0" marT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315448"/>
                  </a:ext>
                </a:extLst>
              </a:tr>
            </a:tbl>
          </a:graphicData>
        </a:graphic>
      </p:graphicFrame>
      <p:grpSp>
        <p:nvGrpSpPr>
          <p:cNvPr id="12" name="RU Group 5">
            <a:extLst>
              <a:ext uri="{FF2B5EF4-FFF2-40B4-BE49-F238E27FC236}">
                <a16:creationId xmlns:a16="http://schemas.microsoft.com/office/drawing/2014/main" id="{138C4340-2101-4EDE-9572-63D25B79F1E6}"/>
              </a:ext>
            </a:extLst>
          </p:cNvPr>
          <p:cNvGrpSpPr/>
          <p:nvPr/>
        </p:nvGrpSpPr>
        <p:grpSpPr>
          <a:xfrm>
            <a:off x="5108947" y="2915189"/>
            <a:ext cx="4333502" cy="324003"/>
            <a:chOff x="5108947" y="2915189"/>
            <a:chExt cx="4333502" cy="324003"/>
          </a:xfrm>
        </p:grpSpPr>
        <p:grpSp>
          <p:nvGrpSpPr>
            <p:cNvPr id="246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2915189"/>
              <a:ext cx="2411995" cy="324003"/>
              <a:chOff x="7382830" y="9015221"/>
              <a:chExt cx="4291755" cy="626710"/>
            </a:xfrm>
          </p:grpSpPr>
          <p:sp>
            <p:nvSpPr>
              <p:cNvPr id="247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48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486495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1 363.5 / 2.7%</a:t>
                </a:r>
              </a:p>
            </p:txBody>
          </p:sp>
        </p:grpSp>
        <p:sp>
          <p:nvSpPr>
            <p:cNvPr id="249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291518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5. РЖД / ВЭБ</a:t>
              </a:r>
            </a:p>
          </p:txBody>
        </p:sp>
      </p:grpSp>
      <p:grpSp>
        <p:nvGrpSpPr>
          <p:cNvPr id="11" name="RU Group 4">
            <a:extLst>
              <a:ext uri="{FF2B5EF4-FFF2-40B4-BE49-F238E27FC236}">
                <a16:creationId xmlns:a16="http://schemas.microsoft.com/office/drawing/2014/main" id="{3FD0D247-3486-4B62-90C1-B0462EE62CF7}"/>
              </a:ext>
            </a:extLst>
          </p:cNvPr>
          <p:cNvGrpSpPr/>
          <p:nvPr/>
        </p:nvGrpSpPr>
        <p:grpSpPr>
          <a:xfrm>
            <a:off x="5108947" y="2524747"/>
            <a:ext cx="4333502" cy="324003"/>
            <a:chOff x="5108947" y="2524747"/>
            <a:chExt cx="4333502" cy="324003"/>
          </a:xfrm>
        </p:grpSpPr>
        <p:grpSp>
          <p:nvGrpSpPr>
            <p:cNvPr id="241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2524747"/>
              <a:ext cx="2411995" cy="324003"/>
              <a:chOff x="7382830" y="9015221"/>
              <a:chExt cx="4291755" cy="626710"/>
            </a:xfrm>
          </p:grpSpPr>
          <p:sp>
            <p:nvSpPr>
              <p:cNvPr id="242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43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024412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6 969.8 / 13.9%</a:t>
                </a:r>
              </a:p>
            </p:txBody>
          </p:sp>
        </p:grpSp>
        <p:sp>
          <p:nvSpPr>
            <p:cNvPr id="244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2526771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4. Группа Газфонд</a:t>
              </a:r>
            </a:p>
          </p:txBody>
        </p:sp>
      </p:grpSp>
      <p:grpSp>
        <p:nvGrpSpPr>
          <p:cNvPr id="10" name="RU Group 3">
            <a:extLst>
              <a:ext uri="{FF2B5EF4-FFF2-40B4-BE49-F238E27FC236}">
                <a16:creationId xmlns:a16="http://schemas.microsoft.com/office/drawing/2014/main" id="{5943DCDA-D901-499D-B424-60799A5AF300}"/>
              </a:ext>
            </a:extLst>
          </p:cNvPr>
          <p:cNvGrpSpPr/>
          <p:nvPr/>
        </p:nvGrpSpPr>
        <p:grpSpPr>
          <a:xfrm>
            <a:off x="5108947" y="2134307"/>
            <a:ext cx="4333502" cy="324003"/>
            <a:chOff x="5108947" y="2134307"/>
            <a:chExt cx="4333502" cy="324003"/>
          </a:xfrm>
        </p:grpSpPr>
        <p:grpSp>
          <p:nvGrpSpPr>
            <p:cNvPr id="236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2134307"/>
              <a:ext cx="2411995" cy="324003"/>
              <a:chOff x="7382830" y="9015221"/>
              <a:chExt cx="4291755" cy="626710"/>
            </a:xfrm>
          </p:grpSpPr>
          <p:sp>
            <p:nvSpPr>
              <p:cNvPr id="237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E2F0D9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38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394230" cy="626704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10 821.2 / 21.6%</a:t>
                </a:r>
              </a:p>
            </p:txBody>
          </p:sp>
        </p:grpSp>
        <p:sp>
          <p:nvSpPr>
            <p:cNvPr id="239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2134308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1">
                  <a:latin typeface="Segoe UI"/>
                </a:rPr>
                <a:t>3. Группа Р-Р</a:t>
              </a:r>
            </a:p>
          </p:txBody>
        </p:sp>
      </p:grpSp>
      <p:grpSp>
        <p:nvGrpSpPr>
          <p:cNvPr id="9" name="RU Group 2">
            <a:extLst>
              <a:ext uri="{FF2B5EF4-FFF2-40B4-BE49-F238E27FC236}">
                <a16:creationId xmlns:a16="http://schemas.microsoft.com/office/drawing/2014/main" id="{4391979F-844C-44FF-813F-36BAB1C75FC0}"/>
              </a:ext>
            </a:extLst>
          </p:cNvPr>
          <p:cNvGrpSpPr/>
          <p:nvPr/>
        </p:nvGrpSpPr>
        <p:grpSpPr>
          <a:xfrm>
            <a:off x="5108947" y="1743867"/>
            <a:ext cx="4333502" cy="324003"/>
            <a:chOff x="5108947" y="1743867"/>
            <a:chExt cx="4333502" cy="324003"/>
          </a:xfrm>
        </p:grpSpPr>
        <p:grpSp>
          <p:nvGrpSpPr>
            <p:cNvPr id="232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1743867"/>
              <a:ext cx="2411995" cy="324003"/>
              <a:chOff x="7382830" y="9015221"/>
              <a:chExt cx="4291755" cy="626710"/>
            </a:xfrm>
          </p:grpSpPr>
          <p:sp>
            <p:nvSpPr>
              <p:cNvPr id="233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34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451864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11 431.6 / 22.8%</a:t>
                </a:r>
              </a:p>
            </p:txBody>
          </p:sp>
        </p:grpSp>
        <p:sp>
          <p:nvSpPr>
            <p:cNvPr id="235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175802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2. Группа ВТБ</a:t>
              </a:r>
            </a:p>
          </p:txBody>
        </p:sp>
      </p:grpSp>
      <p:grpSp>
        <p:nvGrpSpPr>
          <p:cNvPr id="8" name="RU Group 1">
            <a:extLst>
              <a:ext uri="{FF2B5EF4-FFF2-40B4-BE49-F238E27FC236}">
                <a16:creationId xmlns:a16="http://schemas.microsoft.com/office/drawing/2014/main" id="{672B093A-4CAC-4A7D-B262-AD579C99B0E0}"/>
              </a:ext>
            </a:extLst>
          </p:cNvPr>
          <p:cNvGrpSpPr/>
          <p:nvPr/>
        </p:nvGrpSpPr>
        <p:grpSpPr>
          <a:xfrm>
            <a:off x="5108947" y="1353427"/>
            <a:ext cx="4333502" cy="324003"/>
            <a:chOff x="5108947" y="1353427"/>
            <a:chExt cx="4333502" cy="324003"/>
          </a:xfrm>
        </p:grpSpPr>
        <p:grpSp>
          <p:nvGrpSpPr>
            <p:cNvPr id="228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1353427"/>
              <a:ext cx="2411995" cy="324003"/>
              <a:chOff x="7382830" y="9015221"/>
              <a:chExt cx="4291755" cy="626710"/>
            </a:xfrm>
          </p:grpSpPr>
          <p:sp>
            <p:nvSpPr>
              <p:cNvPr id="229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30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936951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16 472.9 / 32.9%</a:t>
                </a:r>
              </a:p>
            </p:txBody>
          </p:sp>
        </p:grpSp>
        <p:sp>
          <p:nvSpPr>
            <p:cNvPr id="231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1353427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1. Группа Сбер</a:t>
              </a:r>
            </a:p>
          </p:txBody>
        </p:sp>
      </p:grpSp>
      <p:graphicFrame>
        <p:nvGraphicFramePr>
          <p:cNvPr id="250" name="RU Indicato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214924"/>
              </p:ext>
            </p:extLst>
          </p:nvPr>
        </p:nvGraphicFramePr>
        <p:xfrm>
          <a:off x="5196000" y="810674"/>
          <a:ext cx="4381498" cy="515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498">
                  <a:extLst>
                    <a:ext uri="{9D8B030D-6E8A-4147-A177-3AD203B41FA5}">
                      <a16:colId xmlns:a16="http://schemas.microsoft.com/office/drawing/2014/main" val="3729817723"/>
                    </a:ext>
                  </a:extLst>
                </a:gridCol>
              </a:tblGrid>
              <a:tr h="262957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Segoe UI"/>
                        </a:rPr>
                        <a:t>3 место на пенсионном рынке – клиенты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278227"/>
                  </a:ext>
                </a:extLst>
              </a:tr>
              <a:tr h="241043">
                <a:tc>
                  <a:txBody>
                    <a:bodyPr/>
                    <a:lstStyle/>
                    <a:p>
                      <a:r>
                        <a:rPr sz="1050" i="1" b="0">
                          <a:latin typeface="Segoe UI"/>
                        </a:rPr>
                        <a:t>Клиенты в тыс. человек / доля рынка в %</a:t>
                      </a:r>
                    </a:p>
                  </a:txBody>
                  <a:tcPr marT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315448"/>
                  </a:ext>
                </a:extLst>
              </a:tr>
            </a:tbl>
          </a:graphicData>
        </a:graphic>
      </p:graphicFrame>
      <p:grpSp>
        <p:nvGrpSpPr>
          <p:cNvPr id="7" name="LU Group 5">
            <a:extLst>
              <a:ext uri="{FF2B5EF4-FFF2-40B4-BE49-F238E27FC236}">
                <a16:creationId xmlns:a16="http://schemas.microsoft.com/office/drawing/2014/main" id="{823457DC-A2EF-4F52-B33D-88141DE4BBC6}"/>
              </a:ext>
            </a:extLst>
          </p:cNvPr>
          <p:cNvGrpSpPr/>
          <p:nvPr/>
        </p:nvGrpSpPr>
        <p:grpSpPr>
          <a:xfrm>
            <a:off x="421837" y="2915189"/>
            <a:ext cx="4450179" cy="324003"/>
            <a:chOff x="421837" y="2915189"/>
            <a:chExt cx="4450179" cy="324003"/>
          </a:xfrm>
        </p:grpSpPr>
        <p:grpSp>
          <p:nvGrpSpPr>
            <p:cNvPr id="223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2915189"/>
              <a:ext cx="2411995" cy="324003"/>
              <a:chOff x="7382830" y="9015221"/>
              <a:chExt cx="4291755" cy="626710"/>
            </a:xfrm>
          </p:grpSpPr>
          <p:sp>
            <p:nvSpPr>
              <p:cNvPr id="225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26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486495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646.1 / 10.0%</a:t>
                </a:r>
              </a:p>
            </p:txBody>
          </p:sp>
        </p:grpSp>
        <p:sp>
          <p:nvSpPr>
            <p:cNvPr id="224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291518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5. РЖД / ВЭБ</a:t>
              </a:r>
            </a:p>
          </p:txBody>
        </p:sp>
      </p:grpSp>
      <p:grpSp>
        <p:nvGrpSpPr>
          <p:cNvPr id="6" name="LU Group 4">
            <a:extLst>
              <a:ext uri="{FF2B5EF4-FFF2-40B4-BE49-F238E27FC236}">
                <a16:creationId xmlns:a16="http://schemas.microsoft.com/office/drawing/2014/main" id="{A998EB27-261E-4800-911A-B9B954D822FC}"/>
              </a:ext>
            </a:extLst>
          </p:cNvPr>
          <p:cNvGrpSpPr/>
          <p:nvPr/>
        </p:nvGrpSpPr>
        <p:grpSpPr>
          <a:xfrm>
            <a:off x="421837" y="2524747"/>
            <a:ext cx="4450179" cy="324003"/>
            <a:chOff x="421837" y="2524747"/>
            <a:chExt cx="4450179" cy="324003"/>
          </a:xfrm>
        </p:grpSpPr>
        <p:grpSp>
          <p:nvGrpSpPr>
            <p:cNvPr id="217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2524747"/>
              <a:ext cx="2411995" cy="324003"/>
              <a:chOff x="7382830" y="9015221"/>
              <a:chExt cx="4291755" cy="626710"/>
            </a:xfrm>
          </p:grpSpPr>
          <p:sp>
            <p:nvSpPr>
              <p:cNvPr id="219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E2F0D9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20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542427" cy="626704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1 233.6 / 19.1%</a:t>
                </a:r>
              </a:p>
            </p:txBody>
          </p:sp>
        </p:grpSp>
        <p:sp>
          <p:nvSpPr>
            <p:cNvPr id="218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2526771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1">
                  <a:latin typeface="Segoe UI"/>
                </a:rPr>
                <a:t>4. Группа Р-Р</a:t>
              </a:r>
            </a:p>
          </p:txBody>
        </p:sp>
      </p:grpSp>
      <p:grpSp>
        <p:nvGrpSpPr>
          <p:cNvPr id="4" name="LU Group 3">
            <a:extLst>
              <a:ext uri="{FF2B5EF4-FFF2-40B4-BE49-F238E27FC236}">
                <a16:creationId xmlns:a16="http://schemas.microsoft.com/office/drawing/2014/main" id="{3BBF268F-CBC7-41D3-BDF7-A507530A4EC3}"/>
              </a:ext>
            </a:extLst>
          </p:cNvPr>
          <p:cNvGrpSpPr/>
          <p:nvPr/>
        </p:nvGrpSpPr>
        <p:grpSpPr>
          <a:xfrm>
            <a:off x="421837" y="2134307"/>
            <a:ext cx="4450179" cy="324003"/>
            <a:chOff x="421837" y="2134307"/>
            <a:chExt cx="4450179" cy="324003"/>
          </a:xfrm>
        </p:grpSpPr>
        <p:grpSp>
          <p:nvGrpSpPr>
            <p:cNvPr id="203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2134307"/>
              <a:ext cx="2411995" cy="324003"/>
              <a:chOff x="7382830" y="9015221"/>
              <a:chExt cx="4291755" cy="626710"/>
            </a:xfrm>
          </p:grpSpPr>
          <p:sp>
            <p:nvSpPr>
              <p:cNvPr id="205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06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577238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1 256.3 / 19.4%</a:t>
                </a:r>
              </a:p>
            </p:txBody>
          </p:sp>
        </p:grpSp>
        <p:sp>
          <p:nvSpPr>
            <p:cNvPr id="204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2134308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3. Группа ВТБ</a:t>
              </a:r>
            </a:p>
          </p:txBody>
        </p:sp>
      </p:grpSp>
      <p:grpSp>
        <p:nvGrpSpPr>
          <p:cNvPr id="3" name="LU Group 2">
            <a:extLst>
              <a:ext uri="{FF2B5EF4-FFF2-40B4-BE49-F238E27FC236}">
                <a16:creationId xmlns:a16="http://schemas.microsoft.com/office/drawing/2014/main" id="{291ADE50-0983-4A94-AAC4-43A87B3D741A}"/>
              </a:ext>
            </a:extLst>
          </p:cNvPr>
          <p:cNvGrpSpPr/>
          <p:nvPr/>
        </p:nvGrpSpPr>
        <p:grpSpPr>
          <a:xfrm>
            <a:off x="421837" y="1743867"/>
            <a:ext cx="4450179" cy="324003"/>
            <a:chOff x="421837" y="1743867"/>
            <a:chExt cx="4450179" cy="324003"/>
          </a:xfrm>
        </p:grpSpPr>
        <p:grpSp>
          <p:nvGrpSpPr>
            <p:cNvPr id="191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1743867"/>
              <a:ext cx="2411995" cy="324003"/>
              <a:chOff x="7382830" y="9015221"/>
              <a:chExt cx="4291755" cy="626710"/>
            </a:xfrm>
          </p:grpSpPr>
          <p:sp>
            <p:nvSpPr>
              <p:cNvPr id="193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94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6468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1 292.7 / 20.0%</a:t>
                </a:r>
              </a:p>
            </p:txBody>
          </p:sp>
        </p:grpSp>
        <p:sp>
          <p:nvSpPr>
            <p:cNvPr id="192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175802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2. Группа Сбер</a:t>
              </a:r>
            </a:p>
          </p:txBody>
        </p:sp>
      </p:grpSp>
      <p:grpSp>
        <p:nvGrpSpPr>
          <p:cNvPr id="2" name="LU Group 1">
            <a:extLst>
              <a:ext uri="{FF2B5EF4-FFF2-40B4-BE49-F238E27FC236}">
                <a16:creationId xmlns:a16="http://schemas.microsoft.com/office/drawing/2014/main" id="{784296A4-B988-4D16-9256-9BAE48CBB243}"/>
              </a:ext>
            </a:extLst>
          </p:cNvPr>
          <p:cNvGrpSpPr/>
          <p:nvPr/>
        </p:nvGrpSpPr>
        <p:grpSpPr>
          <a:xfrm>
            <a:off x="421837" y="1353427"/>
            <a:ext cx="4450179" cy="324004"/>
            <a:chOff x="421837" y="1353427"/>
            <a:chExt cx="4450179" cy="324004"/>
          </a:xfrm>
        </p:grpSpPr>
        <p:grpSp>
          <p:nvGrpSpPr>
            <p:cNvPr id="176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1353427"/>
              <a:ext cx="2411995" cy="324004"/>
              <a:chOff x="7382830" y="9015221"/>
              <a:chExt cx="4291755" cy="626712"/>
            </a:xfrm>
          </p:grpSpPr>
          <p:sp>
            <p:nvSpPr>
              <p:cNvPr id="177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9"/>
                <a:ext cx="3936951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1 458.1 / 22.5%</a:t>
                </a:r>
              </a:p>
            </p:txBody>
          </p:sp>
        </p:grpSp>
        <p:sp>
          <p:nvSpPr>
            <p:cNvPr id="179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1353427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1. Группа Газфонд</a:t>
              </a:r>
            </a:p>
          </p:txBody>
        </p:sp>
      </p:grpSp>
      <p:graphicFrame>
        <p:nvGraphicFramePr>
          <p:cNvPr id="14" name="LU Indicato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432703"/>
              </p:ext>
            </p:extLst>
          </p:nvPr>
        </p:nvGraphicFramePr>
        <p:xfrm>
          <a:off x="419102" y="810674"/>
          <a:ext cx="4381498" cy="49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498">
                  <a:extLst>
                    <a:ext uri="{9D8B030D-6E8A-4147-A177-3AD203B41FA5}">
                      <a16:colId xmlns:a16="http://schemas.microsoft.com/office/drawing/2014/main" val="3729817723"/>
                    </a:ext>
                  </a:extLst>
                </a:gridCol>
              </a:tblGrid>
              <a:tr h="262957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Segoe UI"/>
                        </a:rPr>
                        <a:t>4 место на пенсионном рынке – пенсионные активы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27822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sz="1050" i="1" b="0">
                          <a:latin typeface="Segoe UI"/>
                        </a:rPr>
                        <a:t>Активы в млрд рублей / доля рынка в %</a:t>
                      </a:r>
                    </a:p>
                  </a:txBody>
                  <a:tcPr marR="0" marT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315448"/>
                  </a:ext>
                </a:extLst>
              </a:tr>
            </a:tbl>
          </a:graphicData>
        </a:graphic>
      </p:graphicFrame>
      <p:sp>
        <p:nvSpPr>
          <p:cNvPr id="114" name="Title">
            <a:extLst>
              <a:ext uri="{FF2B5EF4-FFF2-40B4-BE49-F238E27FC236}">
                <a16:creationId xmlns:a16="http://schemas.microsoft.com/office/drawing/2014/main" id="{7382D8AC-20ED-4076-86CE-1B597AD416F8}"/>
              </a:ext>
            </a:extLst>
          </p:cNvPr>
          <p:cNvSpPr txBox="1"/>
          <p:nvPr/>
        </p:nvSpPr>
        <p:spPr>
          <a:xfrm>
            <a:off x="419101" y="215486"/>
            <a:ext cx="8661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E14A4"/>
                </a:solidFill>
                <a:latin typeface="Segoe UI"/>
              </a:rPr>
              <a:t>МЕСТО НА РЫНКЕ ГРУППЫ ФОНДОВ НА 31.12.2025</a:t>
            </a:r>
          </a:p>
        </p:txBody>
      </p:sp>
    </p:spTree>
    <p:extLst>
      <p:ext uri="{BB962C8B-B14F-4D97-AF65-F5344CB8AC3E}">
        <p14:creationId xmlns:p14="http://schemas.microsoft.com/office/powerpoint/2010/main" val="24245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Upper Background"/>
          <p:cNvGrpSpPr/>
          <p:nvPr/>
        </p:nvGrpSpPr>
        <p:grpSpPr>
          <a:xfrm>
            <a:off x="419102" y="751953"/>
            <a:ext cx="9129546" cy="2700000"/>
            <a:chOff x="419102" y="794283"/>
            <a:chExt cx="9129546" cy="2700000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419102" y="794283"/>
              <a:ext cx="9129546" cy="2700000"/>
            </a:xfrm>
            <a:prstGeom prst="roundRect">
              <a:avLst>
                <a:gd name="adj" fmla="val 4052"/>
              </a:avLst>
            </a:prstGeom>
            <a:solidFill>
              <a:srgbClr val="F7F7F7"/>
            </a:solidFill>
            <a:ln>
              <a:noFill/>
            </a:ln>
            <a:effectLst>
              <a:outerShdw blurRad="50800" dist="50800" dir="3600000" algn="ctr" rotWithShape="0">
                <a:srgbClr val="E5E5E5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392" name="Прямая соединительная линия 391"/>
            <p:cNvCxnSpPr/>
            <p:nvPr/>
          </p:nvCxnSpPr>
          <p:spPr>
            <a:xfrm flipV="1">
              <a:off x="5106253" y="794283"/>
              <a:ext cx="0" cy="2664000"/>
            </a:xfrm>
            <a:prstGeom prst="line">
              <a:avLst/>
            </a:prstGeom>
            <a:ln w="9525">
              <a:solidFill>
                <a:srgbClr val="1E14A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5" name="Page Number"/>
          <p:cNvSpPr>
            <a:spLocks noGrp="1"/>
          </p:cNvSpPr>
          <p:nvPr>
            <p:ph type="sldNum" sz="quarter" idx="10"/>
          </p:nvPr>
        </p:nvSpPr>
        <p:spPr>
          <a:xfrm>
            <a:off x="9442449" y="6356407"/>
            <a:ext cx="371021" cy="365125"/>
          </a:xfrm>
        </p:spPr>
        <p:txBody>
          <a:bodyPr/>
          <a:lstStyle/>
          <a:p>
            <a:fld id="{1497CB32-89BC-4402-8C7C-A106FBDE40C6}" type="slidenum">
              <a:rPr lang="ru-RU" smtClean="0"/>
              <a:pPr/>
              <a:t>2</a:t>
            </a:fld>
            <a:endParaRPr lang="ru-RU" dirty="0"/>
          </a:p>
        </p:txBody>
      </p:sp>
      <p:grpSp>
        <p:nvGrpSpPr>
          <p:cNvPr id="143" name="Lower Background"/>
          <p:cNvGrpSpPr/>
          <p:nvPr/>
        </p:nvGrpSpPr>
        <p:grpSpPr>
          <a:xfrm>
            <a:off x="419102" y="3634853"/>
            <a:ext cx="9129546" cy="2700000"/>
            <a:chOff x="419102" y="794283"/>
            <a:chExt cx="9129546" cy="2700000"/>
          </a:xfrm>
        </p:grpSpPr>
        <p:sp>
          <p:nvSpPr>
            <p:cNvPr id="144" name="Скругленный прямоугольник 143"/>
            <p:cNvSpPr/>
            <p:nvPr/>
          </p:nvSpPr>
          <p:spPr>
            <a:xfrm>
              <a:off x="419102" y="794283"/>
              <a:ext cx="9129546" cy="2700000"/>
            </a:xfrm>
            <a:prstGeom prst="roundRect">
              <a:avLst>
                <a:gd name="adj" fmla="val 4052"/>
              </a:avLst>
            </a:prstGeom>
            <a:solidFill>
              <a:srgbClr val="F7F7F7"/>
            </a:solidFill>
            <a:ln>
              <a:noFill/>
            </a:ln>
            <a:effectLst>
              <a:outerShdw blurRad="50800" dist="50800" dir="3600000" algn="ctr" rotWithShape="0">
                <a:srgbClr val="E5E5E5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45" name="Прямая соединительная линия 144"/>
            <p:cNvCxnSpPr/>
            <p:nvPr/>
          </p:nvCxnSpPr>
          <p:spPr>
            <a:xfrm flipV="1">
              <a:off x="5106249" y="794283"/>
              <a:ext cx="0" cy="2664000"/>
            </a:xfrm>
            <a:prstGeom prst="line">
              <a:avLst/>
            </a:prstGeom>
            <a:ln w="9525">
              <a:solidFill>
                <a:srgbClr val="1E14A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RD Group 5">
            <a:extLst>
              <a:ext uri="{FF2B5EF4-FFF2-40B4-BE49-F238E27FC236}">
                <a16:creationId xmlns:a16="http://schemas.microsoft.com/office/drawing/2014/main" id="{B9DCEECE-4E73-4044-ABFE-B1FD2CDEB87E}"/>
              </a:ext>
            </a:extLst>
          </p:cNvPr>
          <p:cNvGrpSpPr/>
          <p:nvPr/>
        </p:nvGrpSpPr>
        <p:grpSpPr>
          <a:xfrm>
            <a:off x="5108947" y="5798089"/>
            <a:ext cx="4333502" cy="324003"/>
            <a:chOff x="5108947" y="5798089"/>
            <a:chExt cx="4333502" cy="324003"/>
          </a:xfrm>
        </p:grpSpPr>
        <p:grpSp>
          <p:nvGrpSpPr>
            <p:cNvPr id="187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5798089"/>
              <a:ext cx="2411995" cy="324003"/>
              <a:chOff x="7382830" y="9015221"/>
              <a:chExt cx="4291755" cy="626710"/>
            </a:xfrm>
          </p:grpSpPr>
          <p:sp>
            <p:nvSpPr>
              <p:cNvPr id="188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E2F0D9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89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486495" cy="626704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64.9 / 2.3%</a:t>
                </a:r>
              </a:p>
            </p:txBody>
          </p:sp>
        </p:grpSp>
        <p:sp>
          <p:nvSpPr>
            <p:cNvPr id="190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579808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1">
                  <a:latin typeface="Segoe UI"/>
                </a:rPr>
                <a:t>8. БУДУЩЕЕ</a:t>
              </a:r>
            </a:p>
          </p:txBody>
        </p:sp>
      </p:grpSp>
      <p:grpSp>
        <p:nvGrpSpPr>
          <p:cNvPr id="23" name="RD Group 4">
            <a:extLst>
              <a:ext uri="{FF2B5EF4-FFF2-40B4-BE49-F238E27FC236}">
                <a16:creationId xmlns:a16="http://schemas.microsoft.com/office/drawing/2014/main" id="{9010C897-801D-4C83-B54F-E868039294C5}"/>
              </a:ext>
            </a:extLst>
          </p:cNvPr>
          <p:cNvGrpSpPr/>
          <p:nvPr/>
        </p:nvGrpSpPr>
        <p:grpSpPr>
          <a:xfrm>
            <a:off x="5108947" y="5407647"/>
            <a:ext cx="4333502" cy="324003"/>
            <a:chOff x="5108947" y="5407647"/>
            <a:chExt cx="4333502" cy="324003"/>
          </a:xfrm>
        </p:grpSpPr>
        <p:grpSp>
          <p:nvGrpSpPr>
            <p:cNvPr id="183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5407647"/>
              <a:ext cx="2411995" cy="324003"/>
              <a:chOff x="7382830" y="9015221"/>
              <a:chExt cx="4291755" cy="626710"/>
            </a:xfrm>
          </p:grpSpPr>
          <p:sp>
            <p:nvSpPr>
              <p:cNvPr id="184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E2F0D9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85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962764" cy="626704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255.1 / 8.9%</a:t>
                </a:r>
              </a:p>
            </p:txBody>
          </p:sp>
        </p:grpSp>
        <p:sp>
          <p:nvSpPr>
            <p:cNvPr id="186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5409671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1">
                  <a:latin typeface="Segoe UI"/>
                </a:rPr>
                <a:t>4. Эволюция</a:t>
              </a:r>
            </a:p>
          </p:txBody>
        </p:sp>
      </p:grpSp>
      <p:grpSp>
        <p:nvGrpSpPr>
          <p:cNvPr id="21" name="RD Group 3">
            <a:extLst>
              <a:ext uri="{FF2B5EF4-FFF2-40B4-BE49-F238E27FC236}">
                <a16:creationId xmlns:a16="http://schemas.microsoft.com/office/drawing/2014/main" id="{0E9FCDB5-CFCB-44C5-8B5D-1A7C2CDD729D}"/>
              </a:ext>
            </a:extLst>
          </p:cNvPr>
          <p:cNvGrpSpPr/>
          <p:nvPr/>
        </p:nvGrpSpPr>
        <p:grpSpPr>
          <a:xfrm>
            <a:off x="5108947" y="5017207"/>
            <a:ext cx="4333502" cy="324003"/>
            <a:chOff x="5108947" y="5017207"/>
            <a:chExt cx="4333502" cy="324003"/>
          </a:xfrm>
        </p:grpSpPr>
        <p:grpSp>
          <p:nvGrpSpPr>
            <p:cNvPr id="175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5017207"/>
              <a:ext cx="2411995" cy="324003"/>
              <a:chOff x="7382830" y="9015221"/>
              <a:chExt cx="4291755" cy="626710"/>
            </a:xfrm>
          </p:grpSpPr>
          <p:sp>
            <p:nvSpPr>
              <p:cNvPr id="180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81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460682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455.9 / 15.8%</a:t>
                </a:r>
              </a:p>
            </p:txBody>
          </p:sp>
        </p:grpSp>
        <p:sp>
          <p:nvSpPr>
            <p:cNvPr id="182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5017208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3. СберНПФ</a:t>
              </a:r>
            </a:p>
          </p:txBody>
        </p:sp>
      </p:grpSp>
      <p:grpSp>
        <p:nvGrpSpPr>
          <p:cNvPr id="20" name="RD Group 2">
            <a:extLst>
              <a:ext uri="{FF2B5EF4-FFF2-40B4-BE49-F238E27FC236}">
                <a16:creationId xmlns:a16="http://schemas.microsoft.com/office/drawing/2014/main" id="{0C318559-6859-4F06-9CDF-54908774C91D}"/>
              </a:ext>
            </a:extLst>
          </p:cNvPr>
          <p:cNvGrpSpPr/>
          <p:nvPr/>
        </p:nvGrpSpPr>
        <p:grpSpPr>
          <a:xfrm>
            <a:off x="5108947" y="4626767"/>
            <a:ext cx="4333502" cy="324003"/>
            <a:chOff x="5108947" y="4626767"/>
            <a:chExt cx="4333502" cy="324003"/>
          </a:xfrm>
        </p:grpSpPr>
        <p:grpSp>
          <p:nvGrpSpPr>
            <p:cNvPr id="171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4626767"/>
              <a:ext cx="2411995" cy="324003"/>
              <a:chOff x="7382830" y="9015221"/>
              <a:chExt cx="4291755" cy="626710"/>
            </a:xfrm>
          </p:grpSpPr>
          <p:sp>
            <p:nvSpPr>
              <p:cNvPr id="172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73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763762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574.7 / 20.0%</a:t>
                </a:r>
              </a:p>
            </p:txBody>
          </p:sp>
        </p:grpSp>
        <p:sp>
          <p:nvSpPr>
            <p:cNvPr id="174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464092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2. Газфонд</a:t>
              </a:r>
            </a:p>
          </p:txBody>
        </p:sp>
      </p:grpSp>
      <p:grpSp>
        <p:nvGrpSpPr>
          <p:cNvPr id="19" name="RD Group 1">
            <a:extLst>
              <a:ext uri="{FF2B5EF4-FFF2-40B4-BE49-F238E27FC236}">
                <a16:creationId xmlns:a16="http://schemas.microsoft.com/office/drawing/2014/main" id="{83FB48D4-9605-40E6-BEDA-3609B9AFFAEA}"/>
              </a:ext>
            </a:extLst>
          </p:cNvPr>
          <p:cNvGrpSpPr/>
          <p:nvPr/>
        </p:nvGrpSpPr>
        <p:grpSpPr>
          <a:xfrm>
            <a:off x="5108947" y="4236327"/>
            <a:ext cx="4333502" cy="324003"/>
            <a:chOff x="5108947" y="4236327"/>
            <a:chExt cx="4333502" cy="324003"/>
          </a:xfrm>
        </p:grpSpPr>
        <p:grpSp>
          <p:nvGrpSpPr>
            <p:cNvPr id="167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4236327"/>
              <a:ext cx="2411995" cy="324003"/>
              <a:chOff x="7382830" y="9015221"/>
              <a:chExt cx="4291755" cy="626710"/>
            </a:xfrm>
          </p:grpSpPr>
          <p:sp>
            <p:nvSpPr>
              <p:cNvPr id="168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69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936951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644.7 / 22.4%</a:t>
                </a:r>
              </a:p>
            </p:txBody>
          </p:sp>
        </p:grpSp>
        <p:sp>
          <p:nvSpPr>
            <p:cNvPr id="170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4236327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1. Благосостояние</a:t>
              </a:r>
            </a:p>
          </p:txBody>
        </p:sp>
      </p:grpSp>
      <p:graphicFrame>
        <p:nvGraphicFramePr>
          <p:cNvPr id="195" name="RD Indicato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45549"/>
              </p:ext>
            </p:extLst>
          </p:nvPr>
        </p:nvGraphicFramePr>
        <p:xfrm>
          <a:off x="5149062" y="3693574"/>
          <a:ext cx="4428436" cy="515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8436">
                  <a:extLst>
                    <a:ext uri="{9D8B030D-6E8A-4147-A177-3AD203B41FA5}">
                      <a16:colId xmlns:a16="http://schemas.microsoft.com/office/drawing/2014/main" val="3729817723"/>
                    </a:ext>
                  </a:extLst>
                </a:gridCol>
              </a:tblGrid>
              <a:tr h="262957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Segoe UI"/>
                        </a:rPr>
                        <a:t>4 и 8 места на пенсионном рынке – пенсионные резервы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278227"/>
                  </a:ext>
                </a:extLst>
              </a:tr>
              <a:tr h="241043">
                <a:tc>
                  <a:txBody>
                    <a:bodyPr/>
                    <a:lstStyle/>
                    <a:p>
                      <a:r>
                        <a:rPr sz="1050" i="1" b="0">
                          <a:latin typeface="Segoe UI"/>
                        </a:rPr>
                        <a:t>Активы в млрд рублей / доля рынка в %</a:t>
                      </a:r>
                    </a:p>
                  </a:txBody>
                  <a:tcPr marT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315448"/>
                  </a:ext>
                </a:extLst>
              </a:tr>
            </a:tbl>
          </a:graphicData>
        </a:graphic>
      </p:graphicFrame>
      <p:grpSp>
        <p:nvGrpSpPr>
          <p:cNvPr id="18" name="LD Group 5">
            <a:extLst>
              <a:ext uri="{FF2B5EF4-FFF2-40B4-BE49-F238E27FC236}">
                <a16:creationId xmlns:a16="http://schemas.microsoft.com/office/drawing/2014/main" id="{D1DD5E2F-F823-4109-B9A0-609F010461E1}"/>
              </a:ext>
            </a:extLst>
          </p:cNvPr>
          <p:cNvGrpSpPr/>
          <p:nvPr/>
        </p:nvGrpSpPr>
        <p:grpSpPr>
          <a:xfrm>
            <a:off x="421837" y="5798089"/>
            <a:ext cx="4450179" cy="324003"/>
            <a:chOff x="421837" y="5798089"/>
            <a:chExt cx="4450179" cy="324003"/>
          </a:xfrm>
        </p:grpSpPr>
        <p:grpSp>
          <p:nvGrpSpPr>
            <p:cNvPr id="162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5798089"/>
              <a:ext cx="2411995" cy="324003"/>
              <a:chOff x="7382830" y="9015221"/>
              <a:chExt cx="4291755" cy="626710"/>
            </a:xfrm>
          </p:grpSpPr>
          <p:sp>
            <p:nvSpPr>
              <p:cNvPr id="163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E2F0D9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64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486495" cy="626704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215.5 / 6.0%</a:t>
                </a:r>
              </a:p>
            </p:txBody>
          </p:sp>
        </p:grpSp>
        <p:sp>
          <p:nvSpPr>
            <p:cNvPr id="165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579808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1">
                  <a:latin typeface="Segoe UI"/>
                </a:rPr>
                <a:t>5. Эволюция</a:t>
              </a:r>
            </a:p>
          </p:txBody>
        </p:sp>
      </p:grpSp>
      <p:grpSp>
        <p:nvGrpSpPr>
          <p:cNvPr id="17" name="LD Group 4">
            <a:extLst>
              <a:ext uri="{FF2B5EF4-FFF2-40B4-BE49-F238E27FC236}">
                <a16:creationId xmlns:a16="http://schemas.microsoft.com/office/drawing/2014/main" id="{E173C869-F040-4797-A8C4-9967E0522F48}"/>
              </a:ext>
            </a:extLst>
          </p:cNvPr>
          <p:cNvGrpSpPr/>
          <p:nvPr/>
        </p:nvGrpSpPr>
        <p:grpSpPr>
          <a:xfrm>
            <a:off x="421837" y="5407647"/>
            <a:ext cx="4450179" cy="324003"/>
            <a:chOff x="421837" y="5407647"/>
            <a:chExt cx="4450179" cy="324003"/>
          </a:xfrm>
        </p:grpSpPr>
        <p:grpSp>
          <p:nvGrpSpPr>
            <p:cNvPr id="158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5407647"/>
              <a:ext cx="2411995" cy="324003"/>
              <a:chOff x="7382830" y="9015221"/>
              <a:chExt cx="4291755" cy="626710"/>
            </a:xfrm>
          </p:grpSpPr>
          <p:sp>
            <p:nvSpPr>
              <p:cNvPr id="159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E2F0D9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60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365957" cy="626704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698.1 / 19.4%</a:t>
                </a:r>
              </a:p>
            </p:txBody>
          </p:sp>
        </p:grpSp>
        <p:sp>
          <p:nvSpPr>
            <p:cNvPr id="161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5409671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1">
                  <a:latin typeface="Segoe UI"/>
                </a:rPr>
                <a:t>4. БУДУЩЕЕ</a:t>
              </a:r>
            </a:p>
          </p:txBody>
        </p:sp>
      </p:grpSp>
      <p:grpSp>
        <p:nvGrpSpPr>
          <p:cNvPr id="16" name="LD Group 3">
            <a:extLst>
              <a:ext uri="{FF2B5EF4-FFF2-40B4-BE49-F238E27FC236}">
                <a16:creationId xmlns:a16="http://schemas.microsoft.com/office/drawing/2014/main" id="{713FAD0C-BC7B-4FC1-A1C2-DC6B152195F5}"/>
              </a:ext>
            </a:extLst>
          </p:cNvPr>
          <p:cNvGrpSpPr/>
          <p:nvPr/>
        </p:nvGrpSpPr>
        <p:grpSpPr>
          <a:xfrm>
            <a:off x="421837" y="5017207"/>
            <a:ext cx="4450179" cy="324003"/>
            <a:chOff x="421837" y="5017207"/>
            <a:chExt cx="4450179" cy="324003"/>
          </a:xfrm>
        </p:grpSpPr>
        <p:grpSp>
          <p:nvGrpSpPr>
            <p:cNvPr id="154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5017207"/>
              <a:ext cx="2411995" cy="324003"/>
              <a:chOff x="7382830" y="9015221"/>
              <a:chExt cx="4291755" cy="626710"/>
            </a:xfrm>
          </p:grpSpPr>
          <p:sp>
            <p:nvSpPr>
              <p:cNvPr id="155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56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379083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704.9 / 19.6%</a:t>
                </a:r>
              </a:p>
            </p:txBody>
          </p:sp>
        </p:grpSp>
        <p:sp>
          <p:nvSpPr>
            <p:cNvPr id="157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5017208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3. Газфонд ПН</a:t>
              </a:r>
            </a:p>
          </p:txBody>
        </p:sp>
      </p:grpSp>
      <p:grpSp>
        <p:nvGrpSpPr>
          <p:cNvPr id="15" name="LD Group 2">
            <a:extLst>
              <a:ext uri="{FF2B5EF4-FFF2-40B4-BE49-F238E27FC236}">
                <a16:creationId xmlns:a16="http://schemas.microsoft.com/office/drawing/2014/main" id="{E551A99E-19C4-4922-899F-32E6A55113A5}"/>
              </a:ext>
            </a:extLst>
          </p:cNvPr>
          <p:cNvGrpSpPr/>
          <p:nvPr/>
        </p:nvGrpSpPr>
        <p:grpSpPr>
          <a:xfrm>
            <a:off x="421837" y="4626767"/>
            <a:ext cx="4450179" cy="324003"/>
            <a:chOff x="421837" y="4626767"/>
            <a:chExt cx="4450179" cy="324003"/>
          </a:xfrm>
        </p:grpSpPr>
        <p:grpSp>
          <p:nvGrpSpPr>
            <p:cNvPr id="150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4626767"/>
              <a:ext cx="2411995" cy="324003"/>
              <a:chOff x="7382830" y="9015221"/>
              <a:chExt cx="4291755" cy="626710"/>
            </a:xfrm>
          </p:grpSpPr>
          <p:sp>
            <p:nvSpPr>
              <p:cNvPr id="151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52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549725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798.6 / 22.2%</a:t>
                </a:r>
              </a:p>
            </p:txBody>
          </p:sp>
        </p:grpSp>
        <p:sp>
          <p:nvSpPr>
            <p:cNvPr id="153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464092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2. СберНПФ</a:t>
              </a:r>
            </a:p>
          </p:txBody>
        </p:sp>
      </p:grpSp>
      <p:grpSp>
        <p:nvGrpSpPr>
          <p:cNvPr id="13" name="LD Group 1">
            <a:extLst>
              <a:ext uri="{FF2B5EF4-FFF2-40B4-BE49-F238E27FC236}">
                <a16:creationId xmlns:a16="http://schemas.microsoft.com/office/drawing/2014/main" id="{7FB6618F-2559-4CCB-875F-CCF2538E269F}"/>
              </a:ext>
            </a:extLst>
          </p:cNvPr>
          <p:cNvGrpSpPr/>
          <p:nvPr/>
        </p:nvGrpSpPr>
        <p:grpSpPr>
          <a:xfrm>
            <a:off x="421837" y="4236248"/>
            <a:ext cx="4450179" cy="324003"/>
            <a:chOff x="421837" y="4236248"/>
            <a:chExt cx="4450179" cy="324003"/>
          </a:xfrm>
        </p:grpSpPr>
        <p:grpSp>
          <p:nvGrpSpPr>
            <p:cNvPr id="146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4236248"/>
              <a:ext cx="2411995" cy="324003"/>
              <a:chOff x="7382830" y="9015221"/>
              <a:chExt cx="4291755" cy="626710"/>
            </a:xfrm>
          </p:grpSpPr>
          <p:sp>
            <p:nvSpPr>
              <p:cNvPr id="147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48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936951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1 010.1 / 28.1%</a:t>
                </a:r>
              </a:p>
            </p:txBody>
          </p:sp>
        </p:grpSp>
        <p:sp>
          <p:nvSpPr>
            <p:cNvPr id="149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4236248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1. ВТБ ПФ</a:t>
              </a:r>
            </a:p>
          </p:txBody>
        </p:sp>
      </p:grpSp>
      <p:graphicFrame>
        <p:nvGraphicFramePr>
          <p:cNvPr id="166" name="LD Indicato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805378"/>
              </p:ext>
            </p:extLst>
          </p:nvPr>
        </p:nvGraphicFramePr>
        <p:xfrm>
          <a:off x="419101" y="3693574"/>
          <a:ext cx="4729961" cy="49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9961">
                  <a:extLst>
                    <a:ext uri="{9D8B030D-6E8A-4147-A177-3AD203B41FA5}">
                      <a16:colId xmlns:a16="http://schemas.microsoft.com/office/drawing/2014/main" val="3729817723"/>
                    </a:ext>
                  </a:extLst>
                </a:gridCol>
              </a:tblGrid>
              <a:tr h="262957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Segoe UI"/>
                        </a:rPr>
                        <a:t>4 и 5 места на пенсионном рынке – пенсионные накопления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27822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sz="1050" i="1" b="0">
                          <a:latin typeface="Segoe UI"/>
                        </a:rPr>
                        <a:t>Активы в млрд рублей / доля рынка в %</a:t>
                      </a:r>
                    </a:p>
                  </a:txBody>
                  <a:tcPr marR="0" marT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315448"/>
                  </a:ext>
                </a:extLst>
              </a:tr>
            </a:tbl>
          </a:graphicData>
        </a:graphic>
      </p:graphicFrame>
      <p:grpSp>
        <p:nvGrpSpPr>
          <p:cNvPr id="12" name="RU Group 5">
            <a:extLst>
              <a:ext uri="{FF2B5EF4-FFF2-40B4-BE49-F238E27FC236}">
                <a16:creationId xmlns:a16="http://schemas.microsoft.com/office/drawing/2014/main" id="{138C4340-2101-4EDE-9572-63D25B79F1E6}"/>
              </a:ext>
            </a:extLst>
          </p:cNvPr>
          <p:cNvGrpSpPr/>
          <p:nvPr/>
        </p:nvGrpSpPr>
        <p:grpSpPr>
          <a:xfrm>
            <a:off x="5108947" y="2915189"/>
            <a:ext cx="4333502" cy="324003"/>
            <a:chOff x="5108947" y="2915189"/>
            <a:chExt cx="4333502" cy="324003"/>
          </a:xfrm>
        </p:grpSpPr>
        <p:grpSp>
          <p:nvGrpSpPr>
            <p:cNvPr id="246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2915189"/>
              <a:ext cx="2411995" cy="324003"/>
              <a:chOff x="7382830" y="9015221"/>
              <a:chExt cx="4291755" cy="626710"/>
            </a:xfrm>
          </p:grpSpPr>
          <p:sp>
            <p:nvSpPr>
              <p:cNvPr id="247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E2F0D9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48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486495" cy="626704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2 079.2 / 4.1%</a:t>
                </a:r>
              </a:p>
            </p:txBody>
          </p:sp>
        </p:grpSp>
        <p:sp>
          <p:nvSpPr>
            <p:cNvPr id="249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291518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1">
                  <a:latin typeface="Segoe UI"/>
                </a:rPr>
                <a:t>5. Эволюция</a:t>
              </a:r>
            </a:p>
          </p:txBody>
        </p:sp>
      </p:grpSp>
      <p:grpSp>
        <p:nvGrpSpPr>
          <p:cNvPr id="11" name="RU Group 4">
            <a:extLst>
              <a:ext uri="{FF2B5EF4-FFF2-40B4-BE49-F238E27FC236}">
                <a16:creationId xmlns:a16="http://schemas.microsoft.com/office/drawing/2014/main" id="{3FD0D247-3486-4B62-90C1-B0462EE62CF7}"/>
              </a:ext>
            </a:extLst>
          </p:cNvPr>
          <p:cNvGrpSpPr/>
          <p:nvPr/>
        </p:nvGrpSpPr>
        <p:grpSpPr>
          <a:xfrm>
            <a:off x="5108947" y="2524747"/>
            <a:ext cx="4333502" cy="324003"/>
            <a:chOff x="5108947" y="2524747"/>
            <a:chExt cx="4333502" cy="324003"/>
          </a:xfrm>
        </p:grpSpPr>
        <p:grpSp>
          <p:nvGrpSpPr>
            <p:cNvPr id="241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2524747"/>
              <a:ext cx="2411995" cy="324003"/>
              <a:chOff x="7382830" y="9015221"/>
              <a:chExt cx="4291755" cy="626710"/>
            </a:xfrm>
          </p:grpSpPr>
          <p:sp>
            <p:nvSpPr>
              <p:cNvPr id="242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43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956503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6 706.8 / 13.4%</a:t>
                </a:r>
              </a:p>
            </p:txBody>
          </p:sp>
        </p:grpSp>
        <p:sp>
          <p:nvSpPr>
            <p:cNvPr id="244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2526771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4. Газфонд ПН</a:t>
              </a:r>
            </a:p>
          </p:txBody>
        </p:sp>
      </p:grpSp>
      <p:grpSp>
        <p:nvGrpSpPr>
          <p:cNvPr id="10" name="RU Group 3">
            <a:extLst>
              <a:ext uri="{FF2B5EF4-FFF2-40B4-BE49-F238E27FC236}">
                <a16:creationId xmlns:a16="http://schemas.microsoft.com/office/drawing/2014/main" id="{5943DCDA-D901-499D-B424-60799A5AF300}"/>
              </a:ext>
            </a:extLst>
          </p:cNvPr>
          <p:cNvGrpSpPr/>
          <p:nvPr/>
        </p:nvGrpSpPr>
        <p:grpSpPr>
          <a:xfrm>
            <a:off x="5108947" y="2134307"/>
            <a:ext cx="4333502" cy="324003"/>
            <a:chOff x="5108947" y="2134307"/>
            <a:chExt cx="4333502" cy="324003"/>
          </a:xfrm>
        </p:grpSpPr>
        <p:grpSp>
          <p:nvGrpSpPr>
            <p:cNvPr id="236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2134307"/>
              <a:ext cx="2411995" cy="324003"/>
              <a:chOff x="7382830" y="9015221"/>
              <a:chExt cx="4291755" cy="626710"/>
            </a:xfrm>
          </p:grpSpPr>
          <p:sp>
            <p:nvSpPr>
              <p:cNvPr id="237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E2F0D9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38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158657" cy="626704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8 742.0 / 17.4%</a:t>
                </a:r>
              </a:p>
            </p:txBody>
          </p:sp>
        </p:grpSp>
        <p:sp>
          <p:nvSpPr>
            <p:cNvPr id="239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2134308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1">
                  <a:latin typeface="Segoe UI"/>
                </a:rPr>
                <a:t>3. БУДУЩЕЕ</a:t>
              </a:r>
            </a:p>
          </p:txBody>
        </p:sp>
      </p:grpSp>
      <p:grpSp>
        <p:nvGrpSpPr>
          <p:cNvPr id="9" name="RU Group 2">
            <a:extLst>
              <a:ext uri="{FF2B5EF4-FFF2-40B4-BE49-F238E27FC236}">
                <a16:creationId xmlns:a16="http://schemas.microsoft.com/office/drawing/2014/main" id="{4391979F-844C-44FF-813F-36BAB1C75FC0}"/>
              </a:ext>
            </a:extLst>
          </p:cNvPr>
          <p:cNvGrpSpPr/>
          <p:nvPr/>
        </p:nvGrpSpPr>
        <p:grpSpPr>
          <a:xfrm>
            <a:off x="5108947" y="1743867"/>
            <a:ext cx="4333502" cy="324003"/>
            <a:chOff x="5108947" y="1743867"/>
            <a:chExt cx="4333502" cy="324003"/>
          </a:xfrm>
        </p:grpSpPr>
        <p:grpSp>
          <p:nvGrpSpPr>
            <p:cNvPr id="232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1743867"/>
              <a:ext cx="2411995" cy="324003"/>
              <a:chOff x="7382830" y="9015221"/>
              <a:chExt cx="4291755" cy="626710"/>
            </a:xfrm>
          </p:grpSpPr>
          <p:sp>
            <p:nvSpPr>
              <p:cNvPr id="233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34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431565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11 431.6 / 22.8%</a:t>
                </a:r>
              </a:p>
            </p:txBody>
          </p:sp>
        </p:grpSp>
        <p:sp>
          <p:nvSpPr>
            <p:cNvPr id="235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175802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2. ВТБ ПФ</a:t>
              </a:r>
            </a:p>
          </p:txBody>
        </p:sp>
      </p:grpSp>
      <p:grpSp>
        <p:nvGrpSpPr>
          <p:cNvPr id="8" name="RU Group 1">
            <a:extLst>
              <a:ext uri="{FF2B5EF4-FFF2-40B4-BE49-F238E27FC236}">
                <a16:creationId xmlns:a16="http://schemas.microsoft.com/office/drawing/2014/main" id="{672B093A-4CAC-4A7D-B262-AD579C99B0E0}"/>
              </a:ext>
            </a:extLst>
          </p:cNvPr>
          <p:cNvGrpSpPr/>
          <p:nvPr/>
        </p:nvGrpSpPr>
        <p:grpSpPr>
          <a:xfrm>
            <a:off x="5108947" y="1353427"/>
            <a:ext cx="4333502" cy="324003"/>
            <a:chOff x="5108947" y="1353427"/>
            <a:chExt cx="4333502" cy="324003"/>
          </a:xfrm>
        </p:grpSpPr>
        <p:grpSp>
          <p:nvGrpSpPr>
            <p:cNvPr id="228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1353427"/>
              <a:ext cx="2411995" cy="324003"/>
              <a:chOff x="7382830" y="9015221"/>
              <a:chExt cx="4291755" cy="626710"/>
            </a:xfrm>
          </p:grpSpPr>
          <p:sp>
            <p:nvSpPr>
              <p:cNvPr id="229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30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936951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16 436.5 / 32.8%</a:t>
                </a:r>
              </a:p>
            </p:txBody>
          </p:sp>
        </p:grpSp>
        <p:sp>
          <p:nvSpPr>
            <p:cNvPr id="231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1353427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1. СберНПФ</a:t>
              </a:r>
            </a:p>
          </p:txBody>
        </p:sp>
      </p:grpSp>
      <p:graphicFrame>
        <p:nvGraphicFramePr>
          <p:cNvPr id="250" name="RU Indicato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344691"/>
              </p:ext>
            </p:extLst>
          </p:nvPr>
        </p:nvGraphicFramePr>
        <p:xfrm>
          <a:off x="5196000" y="810674"/>
          <a:ext cx="4381498" cy="515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498">
                  <a:extLst>
                    <a:ext uri="{9D8B030D-6E8A-4147-A177-3AD203B41FA5}">
                      <a16:colId xmlns:a16="http://schemas.microsoft.com/office/drawing/2014/main" val="3729817723"/>
                    </a:ext>
                  </a:extLst>
                </a:gridCol>
              </a:tblGrid>
              <a:tr h="262957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Segoe UI"/>
                        </a:rPr>
                        <a:t>3 и 5 места на пенсионном рынке – клиенты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278227"/>
                  </a:ext>
                </a:extLst>
              </a:tr>
              <a:tr h="241043">
                <a:tc>
                  <a:txBody>
                    <a:bodyPr/>
                    <a:lstStyle/>
                    <a:p>
                      <a:r>
                        <a:rPr sz="1050" i="1" b="0">
                          <a:latin typeface="Segoe UI"/>
                        </a:rPr>
                        <a:t>Клиенты в тыс. человек / доля рынка в %</a:t>
                      </a:r>
                    </a:p>
                  </a:txBody>
                  <a:tcPr marT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315448"/>
                  </a:ext>
                </a:extLst>
              </a:tr>
            </a:tbl>
          </a:graphicData>
        </a:graphic>
      </p:graphicFrame>
      <p:grpSp>
        <p:nvGrpSpPr>
          <p:cNvPr id="7" name="LU Group 5">
            <a:extLst>
              <a:ext uri="{FF2B5EF4-FFF2-40B4-BE49-F238E27FC236}">
                <a16:creationId xmlns:a16="http://schemas.microsoft.com/office/drawing/2014/main" id="{823457DC-A2EF-4F52-B33D-88141DE4BBC6}"/>
              </a:ext>
            </a:extLst>
          </p:cNvPr>
          <p:cNvGrpSpPr/>
          <p:nvPr/>
        </p:nvGrpSpPr>
        <p:grpSpPr>
          <a:xfrm>
            <a:off x="421837" y="2915189"/>
            <a:ext cx="4450179" cy="324003"/>
            <a:chOff x="421837" y="2915189"/>
            <a:chExt cx="4450179" cy="324003"/>
          </a:xfrm>
        </p:grpSpPr>
        <p:grpSp>
          <p:nvGrpSpPr>
            <p:cNvPr id="223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2915189"/>
              <a:ext cx="2411995" cy="324003"/>
              <a:chOff x="7382830" y="9015221"/>
              <a:chExt cx="4291755" cy="626710"/>
            </a:xfrm>
          </p:grpSpPr>
          <p:sp>
            <p:nvSpPr>
              <p:cNvPr id="225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E2F0D9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26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486495" cy="626704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470.6 / 7.3%</a:t>
                </a:r>
              </a:p>
            </p:txBody>
          </p:sp>
        </p:grpSp>
        <p:sp>
          <p:nvSpPr>
            <p:cNvPr id="224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291518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1">
                  <a:latin typeface="Segoe UI"/>
                </a:rPr>
                <a:t>7. Эволюция</a:t>
              </a:r>
            </a:p>
          </p:txBody>
        </p:sp>
      </p:grpSp>
      <p:grpSp>
        <p:nvGrpSpPr>
          <p:cNvPr id="6" name="LU Group 4">
            <a:extLst>
              <a:ext uri="{FF2B5EF4-FFF2-40B4-BE49-F238E27FC236}">
                <a16:creationId xmlns:a16="http://schemas.microsoft.com/office/drawing/2014/main" id="{A998EB27-261E-4800-911A-B9B954D822FC}"/>
              </a:ext>
            </a:extLst>
          </p:cNvPr>
          <p:cNvGrpSpPr/>
          <p:nvPr/>
        </p:nvGrpSpPr>
        <p:grpSpPr>
          <a:xfrm>
            <a:off x="421837" y="2524747"/>
            <a:ext cx="4450179" cy="324003"/>
            <a:chOff x="421837" y="2524747"/>
            <a:chExt cx="4450179" cy="324003"/>
          </a:xfrm>
        </p:grpSpPr>
        <p:grpSp>
          <p:nvGrpSpPr>
            <p:cNvPr id="217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2524747"/>
              <a:ext cx="2411995" cy="324003"/>
              <a:chOff x="7382830" y="9015221"/>
              <a:chExt cx="4291755" cy="626710"/>
            </a:xfrm>
          </p:grpSpPr>
          <p:sp>
            <p:nvSpPr>
              <p:cNvPr id="219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E2F0D9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20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025921" cy="626704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763.0 / 11.8%</a:t>
                </a:r>
              </a:p>
            </p:txBody>
          </p:sp>
        </p:grpSp>
        <p:sp>
          <p:nvSpPr>
            <p:cNvPr id="218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2526771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1">
                  <a:latin typeface="Segoe UI"/>
                </a:rPr>
                <a:t>4. БУДУЩЕЕ</a:t>
              </a:r>
            </a:p>
          </p:txBody>
        </p:sp>
      </p:grpSp>
      <p:grpSp>
        <p:nvGrpSpPr>
          <p:cNvPr id="4" name="LU Group 3">
            <a:extLst>
              <a:ext uri="{FF2B5EF4-FFF2-40B4-BE49-F238E27FC236}">
                <a16:creationId xmlns:a16="http://schemas.microsoft.com/office/drawing/2014/main" id="{3BBF268F-CBC7-41D3-BDF7-A507530A4EC3}"/>
              </a:ext>
            </a:extLst>
          </p:cNvPr>
          <p:cNvGrpSpPr/>
          <p:nvPr/>
        </p:nvGrpSpPr>
        <p:grpSpPr>
          <a:xfrm>
            <a:off x="421837" y="2134307"/>
            <a:ext cx="4450179" cy="324003"/>
            <a:chOff x="421837" y="2134307"/>
            <a:chExt cx="4450179" cy="324003"/>
          </a:xfrm>
        </p:grpSpPr>
        <p:grpSp>
          <p:nvGrpSpPr>
            <p:cNvPr id="203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2134307"/>
              <a:ext cx="2411995" cy="324003"/>
              <a:chOff x="7382830" y="9015221"/>
              <a:chExt cx="4291755" cy="626710"/>
            </a:xfrm>
          </p:grpSpPr>
          <p:sp>
            <p:nvSpPr>
              <p:cNvPr id="205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06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20572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863.3 / 13.3%</a:t>
                </a:r>
              </a:p>
            </p:txBody>
          </p:sp>
        </p:grpSp>
        <p:sp>
          <p:nvSpPr>
            <p:cNvPr id="204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2134308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3. Газфонд ПН</a:t>
              </a:r>
            </a:p>
          </p:txBody>
        </p:sp>
      </p:grpSp>
      <p:grpSp>
        <p:nvGrpSpPr>
          <p:cNvPr id="3" name="LU Group 2">
            <a:extLst>
              <a:ext uri="{FF2B5EF4-FFF2-40B4-BE49-F238E27FC236}">
                <a16:creationId xmlns:a16="http://schemas.microsoft.com/office/drawing/2014/main" id="{291ADE50-0983-4A94-AAC4-43A87B3D741A}"/>
              </a:ext>
            </a:extLst>
          </p:cNvPr>
          <p:cNvGrpSpPr/>
          <p:nvPr/>
        </p:nvGrpSpPr>
        <p:grpSpPr>
          <a:xfrm>
            <a:off x="421837" y="1743867"/>
            <a:ext cx="4450179" cy="324003"/>
            <a:chOff x="421837" y="1743867"/>
            <a:chExt cx="4450179" cy="324003"/>
          </a:xfrm>
        </p:grpSpPr>
        <p:grpSp>
          <p:nvGrpSpPr>
            <p:cNvPr id="191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1743867"/>
              <a:ext cx="2411995" cy="324003"/>
              <a:chOff x="7382830" y="9015221"/>
              <a:chExt cx="4291755" cy="626710"/>
            </a:xfrm>
          </p:grpSpPr>
          <p:sp>
            <p:nvSpPr>
              <p:cNvPr id="193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94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936951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1 254.4 / 19.4%</a:t>
                </a:r>
              </a:p>
            </p:txBody>
          </p:sp>
        </p:grpSp>
        <p:sp>
          <p:nvSpPr>
            <p:cNvPr id="192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175802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2. СберНПФ</a:t>
              </a:r>
            </a:p>
          </p:txBody>
        </p:sp>
      </p:grpSp>
      <p:grpSp>
        <p:nvGrpSpPr>
          <p:cNvPr id="2" name="LU Group 1">
            <a:extLst>
              <a:ext uri="{FF2B5EF4-FFF2-40B4-BE49-F238E27FC236}">
                <a16:creationId xmlns:a16="http://schemas.microsoft.com/office/drawing/2014/main" id="{784296A4-B988-4D16-9256-9BAE48CBB243}"/>
              </a:ext>
            </a:extLst>
          </p:cNvPr>
          <p:cNvGrpSpPr/>
          <p:nvPr/>
        </p:nvGrpSpPr>
        <p:grpSpPr>
          <a:xfrm>
            <a:off x="421837" y="1353427"/>
            <a:ext cx="4450179" cy="324004"/>
            <a:chOff x="421837" y="1353427"/>
            <a:chExt cx="4450179" cy="324004"/>
          </a:xfrm>
        </p:grpSpPr>
        <p:grpSp>
          <p:nvGrpSpPr>
            <p:cNvPr id="176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1353427"/>
              <a:ext cx="2411995" cy="324004"/>
              <a:chOff x="7382830" y="9015221"/>
              <a:chExt cx="4291755" cy="626712"/>
            </a:xfrm>
          </p:grpSpPr>
          <p:sp>
            <p:nvSpPr>
              <p:cNvPr id="177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9"/>
                <a:ext cx="3936951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r>
                  <a:rPr sz="1400" b="1">
                    <a:solidFill>
                      <a:srgbClr val="FFFFFF"/>
                    </a:solidFill>
                    <a:latin typeface="Segoe UI"/>
                  </a:rPr>
                  <a:t>1 256.3 / 19.4%</a:t>
                </a:r>
              </a:p>
            </p:txBody>
          </p:sp>
        </p:grpSp>
        <p:sp>
          <p:nvSpPr>
            <p:cNvPr id="179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1353427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sz="1400" b="0">
                  <a:latin typeface="Segoe UI"/>
                </a:rPr>
                <a:t>1. ВТБ ПФ</a:t>
              </a:r>
            </a:p>
          </p:txBody>
        </p:sp>
      </p:grpSp>
      <p:graphicFrame>
        <p:nvGraphicFramePr>
          <p:cNvPr id="14" name="LU Indicato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47905"/>
              </p:ext>
            </p:extLst>
          </p:nvPr>
        </p:nvGraphicFramePr>
        <p:xfrm>
          <a:off x="419102" y="810674"/>
          <a:ext cx="4381498" cy="49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498">
                  <a:extLst>
                    <a:ext uri="{9D8B030D-6E8A-4147-A177-3AD203B41FA5}">
                      <a16:colId xmlns:a16="http://schemas.microsoft.com/office/drawing/2014/main" val="3729817723"/>
                    </a:ext>
                  </a:extLst>
                </a:gridCol>
              </a:tblGrid>
              <a:tr h="262957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Segoe UI"/>
                        </a:rPr>
                        <a:t>4 и 7 места на пенсионном рынке – пенсионные активы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27822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sz="1050" i="1" b="0">
                          <a:latin typeface="Segoe UI"/>
                        </a:rPr>
                        <a:t>Активы в млрд рублей / доля рынка в %</a:t>
                      </a:r>
                    </a:p>
                  </a:txBody>
                  <a:tcPr marR="0" marT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315448"/>
                  </a:ext>
                </a:extLst>
              </a:tr>
            </a:tbl>
          </a:graphicData>
        </a:graphic>
      </p:graphicFrame>
      <p:sp>
        <p:nvSpPr>
          <p:cNvPr id="114" name="Title">
            <a:extLst>
              <a:ext uri="{FF2B5EF4-FFF2-40B4-BE49-F238E27FC236}">
                <a16:creationId xmlns:a16="http://schemas.microsoft.com/office/drawing/2014/main" id="{7382D8AC-20ED-4076-86CE-1B597AD416F8}"/>
              </a:ext>
            </a:extLst>
          </p:cNvPr>
          <p:cNvSpPr txBox="1"/>
          <p:nvPr/>
        </p:nvSpPr>
        <p:spPr>
          <a:xfrm>
            <a:off x="419101" y="215486"/>
            <a:ext cx="8661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E14A4"/>
                </a:solidFill>
                <a:latin typeface="Segoe UI"/>
              </a:rPr>
              <a:t>МЕСТА НА РЫНКЕ НПФ ЭВОЛЮЦИЯ И НПФ БУДУЩЕЕ на 31.12.2025</a:t>
            </a:r>
          </a:p>
        </p:txBody>
      </p:sp>
    </p:spTree>
    <p:extLst>
      <p:ext uri="{BB962C8B-B14F-4D97-AF65-F5344CB8AC3E}">
        <p14:creationId xmlns:p14="http://schemas.microsoft.com/office/powerpoint/2010/main" val="41823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7405</TotalTime>
  <Words>417</Words>
  <Application>Microsoft Office PowerPoint</Application>
  <PresentationFormat>Лист A4 (210x297 мм)</PresentationFormat>
  <Paragraphs>100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9" baseType="lpstr">
      <vt:lpstr>Akrobat</vt:lpstr>
      <vt:lpstr>Arial</vt:lpstr>
      <vt:lpstr>Calibri</vt:lpstr>
      <vt:lpstr>Calibri Light</vt:lpstr>
      <vt:lpstr>Segoe UI</vt:lpstr>
      <vt:lpstr>Verdana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Филимонов Владимир Дмитриевич</dc:creator>
  <cp:lastModifiedBy>William Koren</cp:lastModifiedBy>
  <cp:revision>655</cp:revision>
  <cp:lastPrinted>2026-01-29T06:59:52Z</cp:lastPrinted>
  <dcterms:created xsi:type="dcterms:W3CDTF">2023-04-24T09:26:14Z</dcterms:created>
  <dcterms:modified xsi:type="dcterms:W3CDTF">2026-04-22T14:44:12Z</dcterms:modified>
</cp:coreProperties>
</file>